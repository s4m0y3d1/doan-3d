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1cb09e55-45e7-ebdc-f8ed-10e1ad55aca6}">
          <p14:sldIdLst>
            <p14:sldId id="256"/>
            <p14:sldId id="257"/>
            <p14:sldId id="258"/>
          </p14:sldIdLst>
        </p14:section>
        <p14:section name="Phân tích và mô hình hoá" id="{cf2227da-9f14-1b46-668e-1d366ed489da}">
          <p14:sldIdLst>
            <p14:sldId id="259"/>
            <p14:sldId id="260"/>
            <p14:sldId id="261"/>
            <p14:sldId id="262"/>
            <p14:sldId id="263"/>
            <p14:sldId id="264"/>
            <p14:sldId id="265"/>
            <p14:sldId id="266"/>
          </p14:sldIdLst>
        </p14:section>
        <p14:section name="Thiết kế ứng dụng" id="{cfff3968-55c6-4da7-b10a-f4c2e8b9722c}">
          <p14:sldIdLst>
            <p14:sldId id="267"/>
            <p14:sldId id="268"/>
            <p14:sldId id="269"/>
            <p14:sldId id="270"/>
            <p14:sldId id="271"/>
          </p14:sldIdLst>
        </p14:section>
        <p14:section name="Kết quả" id="{d8e8420c-21a4-0e91-8064-7b8a9f561f5f}">
          <p14:sldIdLst>
            <p14:sldId id="272"/>
            <p14:sldId id="273"/>
            <p14:sldId id="274"/>
            <p14:sldId id="275"/>
            <p14:sldId id="276"/>
          </p14:sldIdLst>
        </p14:section>
        <p14:section name="Kết luận" id="{18601a15-e245-79b4-7c8c-50b4e3b44fcf}">
          <p14:sldIdLst>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[Khôi · ~45 giây] Em chào thầy và các bạn. Nhóm 1 xin trình bày đồ án “Hệ thống chấm công định vị 3D theo mô hình khối không gian phân tầng”. Nhóm gồm bốn thành viên: Tín là nhóm trưởng phụ trách mô hình dữ liệu, Nhân phụ trách máy chủ, em là Khôi phụ trách bản đồ 3D, và Vy phụ trách giao diện và kiểm thử. Phần trình bày khoảng mười tám phút, kèm năm phút demo trực tiếp.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[Khôi · ~75 giây] Các ứng dụng chấm công bằng GPS hiện nay dùng hàng rào địa lý hai chiều: chỉ kiểm tra điểm có nằm trong đa giác văn phòng hay không. Trong một cao ốc như IFC One Saigon — 42 tầng, nhiều công ty thuê cùng lúc — nhân viên ở tầng 5 và tầng 22 có cùng kinh độ, cùng vĩ độ. Hàng rào 2D sẽ chấp nhận cả hai. Nói cách khác, nhân viên Alpha Tech ngồi ở văn phòng công ty khác vài chục tầng phía trên vẫn được ghi công hợp lệ. Vấn đề nằm ở chính mô hình dữ liệu: thiếu chiều cao.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[Khôi · ~50 giây] Từ đó nhóm đặt ba mục tiêu. Một, chuyển phép kiểm tra từ “điểm thuộc đa giác” sang “điểm thuộc khối” để xác thực được tầng. Hai, phát hiện bất thường bằng bốn quy tắc R1 đến R4 thay vì chỉ trả lời đúng hoặc sai. Ba, đáp ứng yêu cầu của môn: quản lý thêm, sửa, xoá, thống kê dữ liệu và hiển thị trên bản đồ 3D mức chi tiết 3. Em xin mời Tín trình bày phần mô hình.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[Tín · ~10 giây] Phần một: phân tích và mô hình hoá.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[Tín · ~80 giây] Theo bài giảng, có bốn hướng biểu diễn đối tượng 3D: B-REP, voxel, CSG và tổ hợp. Bài toán của nhóm chỉ cần biểu diễn khối văn phòng — một lăng trụ đứng có đáy là mặt sàn được thuê. Nhóm so sánh các mô hình đã học. 3D-FDS phải lưu cả ARC và EDGE, thừa so với nhu cầu. UDM phải tam giác hoá mặt đáy, mà footprint thật thường lõm. Voxel tốn bộ nhớ và biên bị răng cưa. CSG không biểu diễn được footprint bất quy tắc. SSM của Zlatanova chỉ cần hai nguyên tố NODE và FACE, và được thiết kế cho GIS 3D trên nền web — đúng môi trường của đề tài.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[Tín · ~75 giây] Hình bên trái là lược đồ SSM áp vào khối MAP: một BODY là một văn phòng, các FACE thuộc BODY, các NODE có thứ tự trên FACE. Hình bên phải là cách đánh số: n NODE ở đáy, n NODE ở nắp, một FACE đáy, một FACE nắp và n mặt bên. Nhóm có một điều chỉnh: SSM gốc yêu cầu FACE lồi, nhưng footprint của IFC One Saigon có 18 đỉnh và mặt cong, nên nhóm nới lỏng ràng buộc lồi cho mặt đáy và mặt nắp. Các mặt bên luôn là tứ giác lồi.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[Tín · ~60 giây] Tính dung lượng theo cách của tài liệu ví dụ môn học — mã định danh bốn byte, toạ độ tám byte. Một hình hộp chữ nhật lưu theo SSM tốn 564 byte. Khối của Alpha Tech, đáy 18 đỉnh, tốn 2.468 byte — số này lấy trực tiếp từ hàm ssm_cua_khoi trong CSDL. Nhưng vì khối là lăng trụ đứng, mọi NODE và FACE đều suy ra được từ bộ đa giác đáy, z min, z max. Nên ở mức vật lý nhóm chỉ lưu bộ đó, khoảng 340 byte — nhỏ hơn khoảng bảy lần — và trải ra SSM khi cần.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[Tín · ~90 giây] Từ SSM, nhóm chuyên biệt hoá thành mô hình MAP gồm năm thành phần: đa giác nền P, cao độ z min và z max, dung sai ngang delta xy và dung sai đứng delta z. Cao độ không nhập tay mà suy ra từ dải tầng bằng trigger: z min bằng cao độ nền cộng số tầng phía dưới nhân chiều cao tầng. Phép kiểm tra có hai bước rẻ: điểm có nằm trong đa giác đã nới biên không, rồi cao độ có nằm trong dải đã nới biên không. Kết quả là ba trạng thái. Trạng thái giữa — NGHI NGỜ, đúng toà nhà nhưng sai tầng — chính là trạng thái mà mô hình hai chiều không thể sinh ra. Em xin mời Nhân.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[Nhân · ~60 giây] Ngoài trạng thái, mỗi lần chấm công được áp bốn quy tắc. R1 sai tầng: báo độ lệch cao độ và quy ra số tầng. R2 dịch chuyển bất khả thi: vận tốc suy ra giữa hai lần chấm công liên tiếp vượt 150 km/h, viết bằng hàm trong PostGIS. R3 độ chính xác bất thường: dưới một mét thì nghi giả lập GPS, trên một trăm mét thì không đủ tin cậy. R4 trùng thiết bị: cùng một thiết bị mà nhiều nhân viên chấm công trong mười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[Tín · ~50 giây] Sơ đồ ERD gồm bốn nhóm: tổ chức, không gian gồm toà nhà, văn phòng và khối chấm công, nhân sự, và nghiệp vụ chấm công. Lược đồ PostGIS có 14 bảng, 8 hàm và 4 trigger. Các ràng buộc nghiệp vụ như văn phòng không được vượt số tầng toà nhà, hay tự tính lại cao độ khối khi sửa tầng, đều đặt trong CSDL — nên dù sửa bằng giao diện hay bằng SQL cũng không lọt. Em xin mời Nhân tiếp tục.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[Nhân · ~60 giây] Hệ thống có ba tác nhân: nhân viên chấm công và gửi giải trình, quản lý xử lý cảnh báo và duyệt đơn, quản trị viên quản lý dữ liệu nền. Sơ đồ trình tự bên phải là luồng chấm công: trình duyệt gửi toạ độ và tầng, máy chủ gọi hàm kiểm tra bao hàm trong CSDL, áp R1 đến R4 rồi ghi bản ghi và cảnh báo trong cùng một giao dịch — lỗi ở bước nào thì huỷ toàn bộ.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[Nhân · ~10 giây] Phần hai: thiết kế ứng dụng.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[Nhân · ~60 giây] Kiến trúc ba lớp. Trình duyệt dùng ArcGIS Maps SDK 4.29 — đúng công nghệ hai bài lab — và JavaScript thuần, không cần bước build. Máy chủ Node.js với Express 5 lo xác thực JWT, phân quyền ba vai trò và toàn bộ API. Logic không gian nằm trong PostgreSQL và PostGIS. Cả hệ thống chạy trên một cổng duy nhất, vì Geolocation API chỉ cấp quyền định vị trên HTTPS hoặc localhost. Em xin mời Khôi trình bày phần bản đồ.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[Khôi · ~70 giây] Yêu cầu của môn là bản đồ 3D mức chi tiết 3. Nhóm dùng hai mức cho hai mục đích. Bên phải là LOD1 — khối đùn trơn — đúng với mô hình tính toán, vì chi tiết mặt dựng không làm thay đổi kết quả kiểm tra. Bên trái là LOD3: khối đế, vách kính, dầm từng tầng, khung nhôm đứng, lối vào và mái. Lồng bên trong là ba khối MAP: cam là Alpha Tech, xanh là Beta Finance, tím là Gamma Media. Trên bản đồ có nút chuyển qua lại giữa hai mức.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[Khôi · ~55 giây] Mô hình LOD3 không dựng tay mà sinh tự động từ dữ liệu trong CSDL: footprint, cao độ nền, số tầng, chiều cao tầng và số tầng khối đế. Mỗi thành phần gắn một lớp ngữ nghĩa CityGML: tường là WallSurface, kính là Window, cửa là Door, mái là RoofSurface, còn khung nhôm, mái sảnh, thiết bị kỹ thuật là BuildingInstallation. Bấm vào thành phần nào trên bản đồ cũng hiện đúng lớp của nó. Thêm một toà nhà mới là tự có mô hình LOD3. Em xin mời 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[Vy · ~60 giây] Đây là tab Quản trị, đáp ứng yêu cầu thêm, sửa, xoá và thống kê của môn. Quản trị viên quản lý sáu loại dữ liệu: toà nhà, văn phòng và khối MAP, nhân viên kèm tài khoản, ca làm việc, công ty, phòng ban. Mặt bằng toà nhà và khối MAP được vẽ trực tiếp trên bản đồ 3D, và khối được xem trước ngay khi nhập dải tầng. Nhập vượt số tầng thì khối báo đỏ và CSDL từ chối khi lưu.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[Vy · ~10 giây] Phần ba: kết quả.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[Vy · ~70 giây] Ba tình huống trên toà nhà thật. Một, nhân viên Alpha Tech chấm công ở tầng 6: cả 3D và 2D đều hợp lệ. Hai, cùng toạ độ đó nhưng ở tầng 22: hàng rào 2D vẫn kết luận hợp lệ — bỏ sót — trong khi hệ thống của nhóm trả về NGHI NGỜ, lệch 62,78 mét, tương đương 13,5 tầng. Ba, đứng cách toà nhà vài trăm mét: cả hai đều ngoài vùng. Tình huống thứ hai là kết quả quan trọng nhất của đồ 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[Vy · ~45 giây] Đây là màn hình thật của tình huống hai. Thầy để ý tấm sàn tầng đang chọn đã nằm hẳn trong dải xanh của Beta Finance, xa dải cam của Alpha Tech. Kết quả không chỉ nói là sai, mà nói sai bao nhiêu tầng, kèm cảnh báo R1 mức cao để quản lý xử lý.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[Vy · ~60 giây] Nhóm viết kịch bản kiểm thử đầu cuối gồm 34 ca, gọi API thật trên CSDL thật, hiện đạt 34 trên 34. Các ca gồm ba tình huống MAP, phân quyền, thêm sửa xoá từng loại dữ liệu, các ràng buộc CSDL, tự tính lại khối khi sửa tầng, và trải khối theo SSM. Bảng bên phải đối chiếu với yêu cầu trong danh sách đồ án: thêm sửa xoá, thống kê, hiển thị thực thể không gian, và bản đồ 3D mức chi tiết 3 — đều đã đáp ứng. Sau đây em xin demo trực tiếp.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[Vy · ~300 giây] (Chuyển sang trình duyệt và làm theo sáu bước demo ở phần “Kịch bản demo”. Xong quay lại slide tiếp theo.)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[Tín · ~60 giây] Nhóm xin nêu thẳng các hạn chế. Độ cao GPS trong nhà rất kém, nên hệ thống dùng tầng khai báo và chỉ đối chiếu chứ không tự quyết định. Chưa dùng cảm biến bổ trợ như BLE beacon hay khí áp kế. Dữ liệu chiều cao từ OpenStreetMap rất thiếu — chỉ khoảng 3,7 phần trăm công trình ở TP.HCM có thuộc tính chiều cao. Và không thể chặn hoàn toàn giả lập GPS từ phía web. Hướng phát triển: hợp nhất BLE và khí áp kế, nâng lên LOD4 để chấm công theo phòng, khối MAP có chiều thời gian cho công trường, và tích hợp tính lương. Em xin mời Vy kết thúc phần trình bày.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[Vy · ~30 giây] Xin tóm lại trong một câu: khi chuyển phép kiểm tra từ “điểm thuộc đa giác” sang “điểm thuộc khối”, hệ thống sinh ra được một trạng thái mới — “đúng toà nhà, sai tầng” — mà mô hình hai chiều không có dữ liệu để phát hiện. Nhóm cảm ơn thầy và các bạn đã lắng nghe, và xin nhận câu hỏi 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IA">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25880"/>
            <a:ext cx="6766560" cy="182880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246120"/>
            <a:ext cx="6766560" cy="82296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HAN">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011680"/>
            <a:ext cx="2743200" cy="1097280"/>
          </a:xfrm>
          <a:prstGeom prst="rect">
            <a:avLst/>
          </a:prstGeom>
          <a:noFill/>
          <a:ln/>
        </p:spPr>
        <p:txBody>
          <a:bodyPr wrap="square" rtlCol="0"/>
          <a:lstStyle>
            <a:lvl1pPr algn="l" indent="0" marL="0">
              <a:buNone/>
              <a:defRPr lang="en-US" sz="6000" b="1" dirty="0">
                <a:solidFill>
                  <a:schemeClr val="accent1"/>
                </a:solidFill>
                <a:latin typeface="Cambria" pitchFamily="34" charset="0"/>
                <a:ea typeface="Cambria" pitchFamily="34" charset="-122"/>
                <a:cs typeface="Cambria" pitchFamily="34" charset="-120"/>
              </a:defRPr>
            </a:lvl1pPr>
          </a:lstStyle>
          <a:p>
            <a:pPr algn="l" indent="0" marL="0">
              <a:buNone/>
            </a:pPr>
            <a:endParaRPr lang="en-US" sz="6000" dirty="0"/>
          </a:p>
        </p:txBody>
      </p:sp>
      <p:sp>
        <p:nvSpPr>
          <p:cNvPr id="3" name="Text 0"/>
          <p:cNvSpPr/>
          <p:nvPr>
            <p:ph idx="101" type="title" hasCustomPrompt="1"/>
          </p:nvPr>
        </p:nvSpPr>
        <p:spPr>
          <a:xfrm>
            <a:off x="548640" y="3108960"/>
            <a:ext cx="10058400" cy="109728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OI_DUNG">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200" b="1" dirty="0">
                <a:solidFill>
                  <a:schemeClr val="tx2"/>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6B7785"/>
                </a:solidFill>
              </a:rPr>
              <a:t>IE402 · Nhóm 1 · Chấm công định vị 3D</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4.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4.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4.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0" type="title" hasCustomPrompt="1"/>
          </p:nvPr>
        </p:nvSpPr>
        <p:spPr>
          <a:xfrm>
            <a:off x="548640" y="1325880"/>
            <a:ext cx="6766560" cy="1828800"/>
          </a:xfrm>
          <a:prstGeom prst="rect">
            <a:avLst/>
          </a:prstGeom>
          <a:noFill/>
          <a:ln/>
        </p:spPr>
        <p:txBody>
          <a:bodyPr wrap="square"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Hệ thống chấm công</a:t>
            </a:r>
            <a:endParaRPr lang="en-US" sz="4000" dirty="0"/>
          </a:p>
          <a:p>
            <a:pPr algn="l" indent="0" marL="0">
              <a:buNone/>
            </a:pPr>
            <a:r>
              <a:rPr lang="en-US" sz="4000" b="1" dirty="0">
                <a:solidFill>
                  <a:schemeClr val="bg1"/>
                </a:solidFill>
                <a:latin typeface="Cambria" pitchFamily="34" charset="0"/>
                <a:ea typeface="Cambria" pitchFamily="34" charset="-122"/>
                <a:cs typeface="Cambria" pitchFamily="34" charset="-120"/>
              </a:rPr>
              <a:t>định vị 3D</a:t>
            </a:r>
            <a:endParaRPr lang="en-US" sz="4000" dirty="0"/>
          </a:p>
        </p:txBody>
      </p:sp>
      <p:sp>
        <p:nvSpPr>
          <p:cNvPr id="4" name="Text 0"/>
          <p:cNvSpPr/>
          <p:nvPr>
            <p:ph idx="101" type="body" hasCustomPrompt="1"/>
          </p:nvPr>
        </p:nvSpPr>
        <p:spPr>
          <a:xfrm>
            <a:off x="548640" y="3246120"/>
            <a:ext cx="6766560" cy="822960"/>
          </a:xfrm>
          <a:prstGeom prst="rect">
            <a:avLst/>
          </a:prstGeom>
          <a:noFill/>
          <a:ln/>
        </p:spPr>
        <p:txBody>
          <a:bodyPr wrap="square" rtlCol="0" anchor="t"/>
          <a:lstStyle/>
          <a:p>
            <a:pPr algn="l" indent="0" marL="0">
              <a:buNone/>
            </a:pPr>
            <a:r>
              <a:rPr lang="en-US" sz="1800" dirty="0">
                <a:solidFill>
                  <a:schemeClr val="bg2"/>
                </a:solidFill>
              </a:rPr>
              <a:t>theo mô hình khối không gian phân tầng (MAP)</a:t>
            </a:r>
            <a:endParaRPr lang="en-US" sz="1800" dirty="0"/>
          </a:p>
        </p:txBody>
      </p:sp>
      <p:sp>
        <p:nvSpPr>
          <p:cNvPr id="5" name="Text 2"/>
          <p:cNvSpPr txBox="1"/>
          <p:nvPr/>
        </p:nvSpPr>
        <p:spPr>
          <a:xfrm>
            <a:off x="548640" y="4160520"/>
            <a:ext cx="6583680" cy="685800"/>
          </a:xfrm>
          <a:prstGeom prst="rect">
            <a:avLst/>
          </a:prstGeom>
          <a:noFill/>
          <a:ln/>
        </p:spPr>
        <p:txBody>
          <a:bodyPr wrap="square" lIns="0" tIns="0" rIns="0" bIns="0" rtlCol="0" anchor="t"/>
          <a:lstStyle/>
          <a:p>
            <a:pPr indent="0" marL="0">
              <a:buNone/>
            </a:pPr>
            <a:r>
              <a:rPr lang="en-US" sz="1400" dirty="0">
                <a:solidFill>
                  <a:srgbClr val="C9D3E0"/>
                </a:solidFill>
              </a:rPr>
              <a:t>IE402 — Hệ thống thông tin địa lý 3 chiều</a:t>
            </a:r>
            <a:endParaRPr lang="en-US" sz="1400" dirty="0"/>
          </a:p>
          <a:p>
            <a:pPr indent="0" marL="0">
              <a:buNone/>
            </a:pPr>
            <a:r>
              <a:rPr lang="en-US" sz="1400" dirty="0">
                <a:solidFill>
                  <a:srgbClr val="C9D3E0"/>
                </a:solidFill>
              </a:rPr>
              <a:t>GVHD: ThS. Phan Thanh Vũ</a:t>
            </a:r>
            <a:endParaRPr lang="en-US" sz="1400" dirty="0"/>
          </a:p>
        </p:txBody>
      </p:sp>
      <p:sp>
        <p:nvSpPr>
          <p:cNvPr id="6" name="Text 3"/>
          <p:cNvSpPr txBox="1"/>
          <p:nvPr/>
        </p:nvSpPr>
        <p:spPr>
          <a:xfrm>
            <a:off x="548640" y="5120640"/>
            <a:ext cx="6766560" cy="731520"/>
          </a:xfrm>
          <a:prstGeom prst="rect">
            <a:avLst/>
          </a:prstGeom>
          <a:noFill/>
          <a:ln/>
        </p:spPr>
        <p:txBody>
          <a:bodyPr wrap="square" lIns="0" tIns="0" rIns="0" bIns="0" rtlCol="0" anchor="t"/>
          <a:lstStyle/>
          <a:p>
            <a:pPr indent="0" marL="0">
              <a:buNone/>
            </a:pPr>
            <a:r>
              <a:rPr lang="en-US" sz="1300" b="1" dirty="0">
                <a:solidFill>
                  <a:schemeClr val="accent1"/>
                </a:solidFill>
              </a:rPr>
              <a:t>Nhóm 1   </a:t>
            </a:r>
            <a:pPr indent="0" marL="0">
              <a:buNone/>
            </a:pPr>
            <a:r>
              <a:rPr lang="en-US" sz="1300" dirty="0">
                <a:solidFill>
                  <a:schemeClr val="bg1"/>
                </a:solidFill>
              </a:rPr>
              <a:t>Nguyễn Hữu Tín (23730217)  ·  </a:t>
            </a:r>
            <a:pPr indent="0" marL="0">
              <a:buNone/>
            </a:pPr>
            <a:r>
              <a:rPr lang="en-US" sz="1300" dirty="0">
                <a:solidFill>
                  <a:schemeClr val="bg1"/>
                </a:solidFill>
              </a:rPr>
              <a:t>Võ Thành Nhân (23730204)  ·  </a:t>
            </a:r>
            <a:pPr indent="0" marL="0">
              <a:buNone/>
            </a:pPr>
            <a:r>
              <a:rPr lang="en-US" sz="1300" dirty="0">
                <a:solidFill>
                  <a:schemeClr val="bg1"/>
                </a:solidFill>
              </a:rPr>
              <a:t>Nguyễn Minh Khôi (23730177)  ·  </a:t>
            </a:r>
            <a:pPr indent="0" marL="0">
              <a:buNone/>
            </a:pPr>
            <a:r>
              <a:rPr lang="en-US" sz="1300" dirty="0">
                <a:solidFill>
                  <a:schemeClr val="bg1"/>
                </a:solidFill>
              </a:rPr>
              <a:t>Nguyễn Tường Vy (23730226)</a:t>
            </a:r>
            <a:endParaRPr lang="en-US" sz="1300" dirty="0"/>
          </a:p>
        </p:txBody>
      </p:sp>
      <p:pic>
        <p:nvPicPr>
          <p:cNvPr id="7" name="Toà nhà IFC One Saigon dựng LOD3 với ba khối MAP" descr="Toà nhà IFC One Saigon dựng LOD3 với ba khối MAP">    </p:cNvPr>
          <p:cNvPicPr>
            <a:picLocks noChangeAspect="1"/>
          </p:cNvPicPr>
          <p:nvPr/>
        </p:nvPicPr>
        <p:blipFill>
          <a:blip r:embed="rId1"/>
          <a:stretch>
            <a:fillRect/>
          </a:stretch>
        </p:blipFill>
        <p:spPr>
          <a:xfrm>
            <a:off x="8503920" y="457200"/>
            <a:ext cx="2377440" cy="5943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94415" cy="777240"/>
          </a:xfrm>
          <a:prstGeom prst="rect">
            <a:avLst/>
          </a:prstGeom>
          <a:noFill/>
          <a:ln/>
        </p:spPr>
        <p:txBody>
          <a:bodyPr wrap="square"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Hàng rào 2D không biết bạn ở tầng nào</a:t>
            </a:r>
            <a:endParaRPr lang="en-US" sz="3200" dirty="0"/>
          </a:p>
        </p:txBody>
      </p:sp>
      <p:sp>
        <p:nvSpPr>
          <p:cNvPr id="4" name="Mặt cắt toà nhà"/>
          <p:cNvSpPr/>
          <p:nvPr/>
        </p:nvSpPr>
        <p:spPr>
          <a:xfrm>
            <a:off x="822960" y="1417320"/>
            <a:ext cx="2194560" cy="4663440"/>
          </a:xfrm>
          <a:prstGeom prst="rect">
            <a:avLst/>
          </a:prstGeom>
          <a:solidFill>
            <a:schemeClr val="bg2"/>
          </a:solidFill>
          <a:ln w="12700">
            <a:solidFill>
              <a:srgbClr val="8C959F"/>
            </a:solidFill>
            <a:prstDash val="solid"/>
          </a:ln>
        </p:spPr>
      </p:sp>
      <p:sp>
        <p:nvSpPr>
          <p:cNvPr id="5" name="Sàn 1"/>
          <p:cNvSpPr/>
          <p:nvPr/>
        </p:nvSpPr>
        <p:spPr>
          <a:xfrm>
            <a:off x="822960" y="5886450"/>
            <a:ext cx="2194560" cy="0"/>
          </a:xfrm>
          <a:prstGeom prst="line">
            <a:avLst/>
          </a:prstGeom>
          <a:noFill/>
          <a:ln w="6350">
            <a:solidFill>
              <a:srgbClr val="C9D1D9"/>
            </a:solidFill>
            <a:prstDash val="solid"/>
          </a:ln>
        </p:spPr>
      </p:sp>
      <p:sp>
        <p:nvSpPr>
          <p:cNvPr id="6" name="Sàn 2"/>
          <p:cNvSpPr/>
          <p:nvPr/>
        </p:nvSpPr>
        <p:spPr>
          <a:xfrm>
            <a:off x="822960" y="5692140"/>
            <a:ext cx="2194560" cy="0"/>
          </a:xfrm>
          <a:prstGeom prst="line">
            <a:avLst/>
          </a:prstGeom>
          <a:noFill/>
          <a:ln w="6350">
            <a:solidFill>
              <a:srgbClr val="C9D1D9"/>
            </a:solidFill>
            <a:prstDash val="solid"/>
          </a:ln>
        </p:spPr>
      </p:sp>
      <p:sp>
        <p:nvSpPr>
          <p:cNvPr id="7" name="Sàn 3"/>
          <p:cNvSpPr/>
          <p:nvPr/>
        </p:nvSpPr>
        <p:spPr>
          <a:xfrm>
            <a:off x="822960" y="5497830"/>
            <a:ext cx="2194560" cy="0"/>
          </a:xfrm>
          <a:prstGeom prst="line">
            <a:avLst/>
          </a:prstGeom>
          <a:noFill/>
          <a:ln w="6350">
            <a:solidFill>
              <a:srgbClr val="C9D1D9"/>
            </a:solidFill>
            <a:prstDash val="solid"/>
          </a:ln>
        </p:spPr>
      </p:sp>
      <p:sp>
        <p:nvSpPr>
          <p:cNvPr id="8" name="Sàn 4"/>
          <p:cNvSpPr/>
          <p:nvPr/>
        </p:nvSpPr>
        <p:spPr>
          <a:xfrm>
            <a:off x="822960" y="5303520"/>
            <a:ext cx="2194560" cy="0"/>
          </a:xfrm>
          <a:prstGeom prst="line">
            <a:avLst/>
          </a:prstGeom>
          <a:noFill/>
          <a:ln w="6350">
            <a:solidFill>
              <a:srgbClr val="C9D1D9"/>
            </a:solidFill>
            <a:prstDash val="solid"/>
          </a:ln>
        </p:spPr>
      </p:sp>
      <p:sp>
        <p:nvSpPr>
          <p:cNvPr id="9" name="Sàn 5"/>
          <p:cNvSpPr/>
          <p:nvPr/>
        </p:nvSpPr>
        <p:spPr>
          <a:xfrm>
            <a:off x="822960" y="5109210"/>
            <a:ext cx="2194560" cy="0"/>
          </a:xfrm>
          <a:prstGeom prst="line">
            <a:avLst/>
          </a:prstGeom>
          <a:noFill/>
          <a:ln w="6350">
            <a:solidFill>
              <a:srgbClr val="C9D1D9"/>
            </a:solidFill>
            <a:prstDash val="solid"/>
          </a:ln>
        </p:spPr>
      </p:sp>
      <p:sp>
        <p:nvSpPr>
          <p:cNvPr id="10" name="Sàn 6"/>
          <p:cNvSpPr/>
          <p:nvPr/>
        </p:nvSpPr>
        <p:spPr>
          <a:xfrm>
            <a:off x="822960" y="4914900"/>
            <a:ext cx="2194560" cy="0"/>
          </a:xfrm>
          <a:prstGeom prst="line">
            <a:avLst/>
          </a:prstGeom>
          <a:noFill/>
          <a:ln w="6350">
            <a:solidFill>
              <a:srgbClr val="C9D1D9"/>
            </a:solidFill>
            <a:prstDash val="solid"/>
          </a:ln>
        </p:spPr>
      </p:sp>
      <p:sp>
        <p:nvSpPr>
          <p:cNvPr id="11" name="Sàn 7"/>
          <p:cNvSpPr/>
          <p:nvPr/>
        </p:nvSpPr>
        <p:spPr>
          <a:xfrm>
            <a:off x="822960" y="4720590"/>
            <a:ext cx="2194560" cy="0"/>
          </a:xfrm>
          <a:prstGeom prst="line">
            <a:avLst/>
          </a:prstGeom>
          <a:noFill/>
          <a:ln w="6350">
            <a:solidFill>
              <a:srgbClr val="C9D1D9"/>
            </a:solidFill>
            <a:prstDash val="solid"/>
          </a:ln>
        </p:spPr>
      </p:sp>
      <p:sp>
        <p:nvSpPr>
          <p:cNvPr id="12" name="Sàn 8"/>
          <p:cNvSpPr/>
          <p:nvPr/>
        </p:nvSpPr>
        <p:spPr>
          <a:xfrm>
            <a:off x="822960" y="4526280"/>
            <a:ext cx="2194560" cy="0"/>
          </a:xfrm>
          <a:prstGeom prst="line">
            <a:avLst/>
          </a:prstGeom>
          <a:noFill/>
          <a:ln w="6350">
            <a:solidFill>
              <a:srgbClr val="C9D1D9"/>
            </a:solidFill>
            <a:prstDash val="solid"/>
          </a:ln>
        </p:spPr>
      </p:sp>
      <p:sp>
        <p:nvSpPr>
          <p:cNvPr id="13" name="Sàn 9"/>
          <p:cNvSpPr/>
          <p:nvPr/>
        </p:nvSpPr>
        <p:spPr>
          <a:xfrm>
            <a:off x="822960" y="4331970"/>
            <a:ext cx="2194560" cy="0"/>
          </a:xfrm>
          <a:prstGeom prst="line">
            <a:avLst/>
          </a:prstGeom>
          <a:noFill/>
          <a:ln w="6350">
            <a:solidFill>
              <a:srgbClr val="C9D1D9"/>
            </a:solidFill>
            <a:prstDash val="solid"/>
          </a:ln>
        </p:spPr>
      </p:sp>
      <p:sp>
        <p:nvSpPr>
          <p:cNvPr id="14" name="Sàn 10"/>
          <p:cNvSpPr/>
          <p:nvPr/>
        </p:nvSpPr>
        <p:spPr>
          <a:xfrm>
            <a:off x="822960" y="4137660"/>
            <a:ext cx="2194560" cy="0"/>
          </a:xfrm>
          <a:prstGeom prst="line">
            <a:avLst/>
          </a:prstGeom>
          <a:noFill/>
          <a:ln w="6350">
            <a:solidFill>
              <a:srgbClr val="C9D1D9"/>
            </a:solidFill>
            <a:prstDash val="solid"/>
          </a:ln>
        </p:spPr>
      </p:sp>
      <p:sp>
        <p:nvSpPr>
          <p:cNvPr id="15" name="Sàn 11"/>
          <p:cNvSpPr/>
          <p:nvPr/>
        </p:nvSpPr>
        <p:spPr>
          <a:xfrm>
            <a:off x="822960" y="3943350"/>
            <a:ext cx="2194560" cy="0"/>
          </a:xfrm>
          <a:prstGeom prst="line">
            <a:avLst/>
          </a:prstGeom>
          <a:noFill/>
          <a:ln w="6350">
            <a:solidFill>
              <a:srgbClr val="C9D1D9"/>
            </a:solidFill>
            <a:prstDash val="solid"/>
          </a:ln>
        </p:spPr>
      </p:sp>
      <p:sp>
        <p:nvSpPr>
          <p:cNvPr id="16" name="Sàn 12"/>
          <p:cNvSpPr/>
          <p:nvPr/>
        </p:nvSpPr>
        <p:spPr>
          <a:xfrm>
            <a:off x="822960" y="3749040"/>
            <a:ext cx="2194560" cy="0"/>
          </a:xfrm>
          <a:prstGeom prst="line">
            <a:avLst/>
          </a:prstGeom>
          <a:noFill/>
          <a:ln w="6350">
            <a:solidFill>
              <a:srgbClr val="C9D1D9"/>
            </a:solidFill>
            <a:prstDash val="solid"/>
          </a:ln>
        </p:spPr>
      </p:sp>
      <p:sp>
        <p:nvSpPr>
          <p:cNvPr id="17" name="Sàn 13"/>
          <p:cNvSpPr/>
          <p:nvPr/>
        </p:nvSpPr>
        <p:spPr>
          <a:xfrm>
            <a:off x="822960" y="3554730"/>
            <a:ext cx="2194560" cy="0"/>
          </a:xfrm>
          <a:prstGeom prst="line">
            <a:avLst/>
          </a:prstGeom>
          <a:noFill/>
          <a:ln w="6350">
            <a:solidFill>
              <a:srgbClr val="C9D1D9"/>
            </a:solidFill>
            <a:prstDash val="solid"/>
          </a:ln>
        </p:spPr>
      </p:sp>
      <p:sp>
        <p:nvSpPr>
          <p:cNvPr id="18" name="Sàn 14"/>
          <p:cNvSpPr/>
          <p:nvPr/>
        </p:nvSpPr>
        <p:spPr>
          <a:xfrm>
            <a:off x="822960" y="3360420"/>
            <a:ext cx="2194560" cy="0"/>
          </a:xfrm>
          <a:prstGeom prst="line">
            <a:avLst/>
          </a:prstGeom>
          <a:noFill/>
          <a:ln w="6350">
            <a:solidFill>
              <a:srgbClr val="C9D1D9"/>
            </a:solidFill>
            <a:prstDash val="solid"/>
          </a:ln>
        </p:spPr>
      </p:sp>
      <p:sp>
        <p:nvSpPr>
          <p:cNvPr id="19" name="Sàn 15"/>
          <p:cNvSpPr/>
          <p:nvPr/>
        </p:nvSpPr>
        <p:spPr>
          <a:xfrm>
            <a:off x="822960" y="3166110"/>
            <a:ext cx="2194560" cy="0"/>
          </a:xfrm>
          <a:prstGeom prst="line">
            <a:avLst/>
          </a:prstGeom>
          <a:noFill/>
          <a:ln w="6350">
            <a:solidFill>
              <a:srgbClr val="C9D1D9"/>
            </a:solidFill>
            <a:prstDash val="solid"/>
          </a:ln>
        </p:spPr>
      </p:sp>
      <p:sp>
        <p:nvSpPr>
          <p:cNvPr id="20" name="Sàn 16"/>
          <p:cNvSpPr/>
          <p:nvPr/>
        </p:nvSpPr>
        <p:spPr>
          <a:xfrm>
            <a:off x="822960" y="2971800"/>
            <a:ext cx="2194560" cy="0"/>
          </a:xfrm>
          <a:prstGeom prst="line">
            <a:avLst/>
          </a:prstGeom>
          <a:noFill/>
          <a:ln w="6350">
            <a:solidFill>
              <a:srgbClr val="C9D1D9"/>
            </a:solidFill>
            <a:prstDash val="solid"/>
          </a:ln>
        </p:spPr>
      </p:sp>
      <p:sp>
        <p:nvSpPr>
          <p:cNvPr id="21" name="Sàn 17"/>
          <p:cNvSpPr/>
          <p:nvPr/>
        </p:nvSpPr>
        <p:spPr>
          <a:xfrm>
            <a:off x="822960" y="2777490"/>
            <a:ext cx="2194560" cy="0"/>
          </a:xfrm>
          <a:prstGeom prst="line">
            <a:avLst/>
          </a:prstGeom>
          <a:noFill/>
          <a:ln w="6350">
            <a:solidFill>
              <a:srgbClr val="C9D1D9"/>
            </a:solidFill>
            <a:prstDash val="solid"/>
          </a:ln>
        </p:spPr>
      </p:sp>
      <p:sp>
        <p:nvSpPr>
          <p:cNvPr id="22" name="Sàn 18"/>
          <p:cNvSpPr/>
          <p:nvPr/>
        </p:nvSpPr>
        <p:spPr>
          <a:xfrm>
            <a:off x="822960" y="2583180"/>
            <a:ext cx="2194560" cy="0"/>
          </a:xfrm>
          <a:prstGeom prst="line">
            <a:avLst/>
          </a:prstGeom>
          <a:noFill/>
          <a:ln w="6350">
            <a:solidFill>
              <a:srgbClr val="C9D1D9"/>
            </a:solidFill>
            <a:prstDash val="solid"/>
          </a:ln>
        </p:spPr>
      </p:sp>
      <p:sp>
        <p:nvSpPr>
          <p:cNvPr id="23" name="Sàn 19"/>
          <p:cNvSpPr/>
          <p:nvPr/>
        </p:nvSpPr>
        <p:spPr>
          <a:xfrm>
            <a:off x="822960" y="2388870"/>
            <a:ext cx="2194560" cy="0"/>
          </a:xfrm>
          <a:prstGeom prst="line">
            <a:avLst/>
          </a:prstGeom>
          <a:noFill/>
          <a:ln w="6350">
            <a:solidFill>
              <a:srgbClr val="C9D1D9"/>
            </a:solidFill>
            <a:prstDash val="solid"/>
          </a:ln>
        </p:spPr>
      </p:sp>
      <p:sp>
        <p:nvSpPr>
          <p:cNvPr id="24" name="Sàn 20"/>
          <p:cNvSpPr/>
          <p:nvPr/>
        </p:nvSpPr>
        <p:spPr>
          <a:xfrm>
            <a:off x="822960" y="2194560"/>
            <a:ext cx="2194560" cy="0"/>
          </a:xfrm>
          <a:prstGeom prst="line">
            <a:avLst/>
          </a:prstGeom>
          <a:noFill/>
          <a:ln w="6350">
            <a:solidFill>
              <a:srgbClr val="C9D1D9"/>
            </a:solidFill>
            <a:prstDash val="solid"/>
          </a:ln>
        </p:spPr>
      </p:sp>
      <p:sp>
        <p:nvSpPr>
          <p:cNvPr id="25" name="Sàn 21"/>
          <p:cNvSpPr/>
          <p:nvPr/>
        </p:nvSpPr>
        <p:spPr>
          <a:xfrm>
            <a:off x="822960" y="2000250"/>
            <a:ext cx="2194560" cy="0"/>
          </a:xfrm>
          <a:prstGeom prst="line">
            <a:avLst/>
          </a:prstGeom>
          <a:noFill/>
          <a:ln w="6350">
            <a:solidFill>
              <a:srgbClr val="C9D1D9"/>
            </a:solidFill>
            <a:prstDash val="solid"/>
          </a:ln>
        </p:spPr>
      </p:sp>
      <p:sp>
        <p:nvSpPr>
          <p:cNvPr id="26" name="Sàn 22"/>
          <p:cNvSpPr/>
          <p:nvPr/>
        </p:nvSpPr>
        <p:spPr>
          <a:xfrm>
            <a:off x="822960" y="1805940"/>
            <a:ext cx="2194560" cy="0"/>
          </a:xfrm>
          <a:prstGeom prst="line">
            <a:avLst/>
          </a:prstGeom>
          <a:noFill/>
          <a:ln w="6350">
            <a:solidFill>
              <a:srgbClr val="C9D1D9"/>
            </a:solidFill>
            <a:prstDash val="solid"/>
          </a:ln>
        </p:spPr>
      </p:sp>
      <p:sp>
        <p:nvSpPr>
          <p:cNvPr id="27" name="Sàn 23"/>
          <p:cNvSpPr/>
          <p:nvPr/>
        </p:nvSpPr>
        <p:spPr>
          <a:xfrm>
            <a:off x="822960" y="1611630"/>
            <a:ext cx="2194560" cy="0"/>
          </a:xfrm>
          <a:prstGeom prst="line">
            <a:avLst/>
          </a:prstGeom>
          <a:noFill/>
          <a:ln w="6350">
            <a:solidFill>
              <a:srgbClr val="C9D1D9"/>
            </a:solidFill>
            <a:prstDash val="solid"/>
          </a:ln>
        </p:spPr>
      </p:sp>
      <p:sp>
        <p:nvSpPr>
          <p:cNvPr id="28" name="Dải tầng 5–8 Alpha Tech"/>
          <p:cNvSpPr/>
          <p:nvPr/>
        </p:nvSpPr>
        <p:spPr>
          <a:xfrm>
            <a:off x="822960" y="4526280"/>
            <a:ext cx="2194560" cy="777240"/>
          </a:xfrm>
          <a:prstGeom prst="rect">
            <a:avLst/>
          </a:prstGeom>
          <a:solidFill>
            <a:schemeClr val="accent1">
              <a:alpha val="45000"/>
            </a:schemeClr>
          </a:solidFill>
          <a:ln w="19050">
            <a:solidFill>
              <a:schemeClr val="accent1"/>
            </a:solidFill>
            <a:prstDash val="solid"/>
          </a:ln>
        </p:spPr>
      </p:sp>
      <p:sp>
        <p:nvSpPr>
          <p:cNvPr id="29" name="Tầng 22"/>
          <p:cNvSpPr/>
          <p:nvPr/>
        </p:nvSpPr>
        <p:spPr>
          <a:xfrm>
            <a:off x="822960" y="1805940"/>
            <a:ext cx="2194560" cy="194310"/>
          </a:xfrm>
          <a:prstGeom prst="rect">
            <a:avLst/>
          </a:prstGeom>
          <a:solidFill>
            <a:schemeClr val="accent5">
              <a:alpha val="55000"/>
            </a:schemeClr>
          </a:solidFill>
          <a:ln w="19050">
            <a:solidFill>
              <a:schemeClr val="accent5"/>
            </a:solidFill>
            <a:prstDash val="solid"/>
          </a:ln>
        </p:spPr>
      </p:sp>
      <p:sp>
        <p:nvSpPr>
          <p:cNvPr id="30" name="Nhân viên ở tầng 5 (nền)"/>
          <p:cNvSpPr/>
          <p:nvPr/>
        </p:nvSpPr>
        <p:spPr>
          <a:xfrm>
            <a:off x="1764792" y="4856607"/>
            <a:ext cx="310896" cy="310896"/>
          </a:xfrm>
          <a:prstGeom prst="ellipse">
            <a:avLst/>
          </a:prstGeom>
          <a:solidFill>
            <a:schemeClr val="accent1"/>
          </a:solidFill>
          <a:ln w="12700">
            <a:solidFill>
              <a:schemeClr val="accent1"/>
            </a:solidFill>
            <a:prstDash val="solid"/>
          </a:ln>
        </p:spPr>
      </p:sp>
      <p:pic>
        <p:nvPicPr>
          <p:cNvPr id="31" name="Nhân viên ở tầng 5" descr="Nhân viên ở tầng 5">    </p:cNvPr>
          <p:cNvPicPr>
            <a:picLocks noChangeAspect="1"/>
          </p:cNvPicPr>
          <p:nvPr/>
        </p:nvPicPr>
        <p:blipFill>
          <a:blip r:embed="rId1"/>
          <a:stretch>
            <a:fillRect/>
          </a:stretch>
        </p:blipFill>
        <p:spPr>
          <a:xfrm>
            <a:off x="1845625" y="4937440"/>
            <a:ext cx="149230" cy="149230"/>
          </a:xfrm>
          <a:prstGeom prst="rect">
            <a:avLst/>
          </a:prstGeom>
        </p:spPr>
      </p:pic>
      <p:sp>
        <p:nvSpPr>
          <p:cNvPr id="32" name="Nhân viên ở tầng 22 (nền)"/>
          <p:cNvSpPr/>
          <p:nvPr/>
        </p:nvSpPr>
        <p:spPr>
          <a:xfrm>
            <a:off x="1764792" y="1747647"/>
            <a:ext cx="310896" cy="310896"/>
          </a:xfrm>
          <a:prstGeom prst="ellipse">
            <a:avLst/>
          </a:prstGeom>
          <a:solidFill>
            <a:schemeClr val="accent5"/>
          </a:solidFill>
          <a:ln w="12700">
            <a:solidFill>
              <a:schemeClr val="accent5"/>
            </a:solidFill>
            <a:prstDash val="solid"/>
          </a:ln>
        </p:spPr>
      </p:sp>
      <p:pic>
        <p:nvPicPr>
          <p:cNvPr id="33" name="Nhân viên ở tầng 22" descr="Nhân viên ở tầng 22">    </p:cNvPr>
          <p:cNvPicPr>
            <a:picLocks noChangeAspect="1"/>
          </p:cNvPicPr>
          <p:nvPr/>
        </p:nvPicPr>
        <p:blipFill>
          <a:blip r:embed="rId2"/>
          <a:stretch>
            <a:fillRect/>
          </a:stretch>
        </p:blipFill>
        <p:spPr>
          <a:xfrm>
            <a:off x="1845625" y="1828480"/>
            <a:ext cx="149230" cy="149230"/>
          </a:xfrm>
          <a:prstGeom prst="rect">
            <a:avLst/>
          </a:prstGeom>
        </p:spPr>
      </p:pic>
      <p:sp>
        <p:nvSpPr>
          <p:cNvPr id="34" name="Cùng toạ độ ngang"/>
          <p:cNvSpPr/>
          <p:nvPr/>
        </p:nvSpPr>
        <p:spPr>
          <a:xfrm>
            <a:off x="1920240" y="2085975"/>
            <a:ext cx="0" cy="2743200"/>
          </a:xfrm>
          <a:prstGeom prst="line">
            <a:avLst/>
          </a:prstGeom>
          <a:noFill/>
          <a:ln w="15875">
            <a:solidFill>
              <a:schemeClr val="tx1"/>
            </a:solidFill>
            <a:prstDash val="dash"/>
          </a:ln>
        </p:spPr>
      </p:sp>
      <p:sp>
        <p:nvSpPr>
          <p:cNvPr id="35" name="Text 30"/>
          <p:cNvSpPr txBox="1"/>
          <p:nvPr/>
        </p:nvSpPr>
        <p:spPr>
          <a:xfrm>
            <a:off x="3127248" y="1760220"/>
            <a:ext cx="1188720" cy="274320"/>
          </a:xfrm>
          <a:prstGeom prst="rect">
            <a:avLst/>
          </a:prstGeom>
          <a:noFill/>
          <a:ln/>
        </p:spPr>
        <p:txBody>
          <a:bodyPr wrap="square" lIns="0" tIns="0" rIns="0" bIns="0" rtlCol="0" anchor="t"/>
          <a:lstStyle/>
          <a:p>
            <a:pPr indent="0" marL="0">
              <a:buNone/>
            </a:pPr>
            <a:r>
              <a:rPr lang="en-US" sz="1300" b="1" dirty="0">
                <a:solidFill>
                  <a:schemeClr val="accent5"/>
                </a:solidFill>
              </a:rPr>
              <a:t>Tầng 22</a:t>
            </a:r>
            <a:endParaRPr lang="en-US" sz="1300" dirty="0"/>
          </a:p>
        </p:txBody>
      </p:sp>
      <p:sp>
        <p:nvSpPr>
          <p:cNvPr id="36" name="Text 31"/>
          <p:cNvSpPr txBox="1"/>
          <p:nvPr/>
        </p:nvSpPr>
        <p:spPr>
          <a:xfrm>
            <a:off x="3127248" y="4526280"/>
            <a:ext cx="1280160" cy="548640"/>
          </a:xfrm>
          <a:prstGeom prst="rect">
            <a:avLst/>
          </a:prstGeom>
          <a:noFill/>
          <a:ln/>
        </p:spPr>
        <p:txBody>
          <a:bodyPr wrap="square" lIns="0" tIns="0" rIns="0" bIns="0" rtlCol="0" anchor="t"/>
          <a:lstStyle/>
          <a:p>
            <a:pPr indent="0" marL="0">
              <a:buNone/>
            </a:pPr>
            <a:r>
              <a:rPr lang="en-US" sz="1300" b="1" dirty="0">
                <a:solidFill>
                  <a:schemeClr val="accent1"/>
                </a:solidFill>
              </a:rPr>
              <a:t>Tầng 5–8</a:t>
            </a:r>
            <a:endParaRPr lang="en-US" sz="1300" dirty="0"/>
          </a:p>
          <a:p>
            <a:pPr indent="0" marL="0">
              <a:buNone/>
            </a:pPr>
            <a:r>
              <a:rPr lang="en-US" sz="1300" b="1" dirty="0">
                <a:solidFill>
                  <a:schemeClr val="accent1"/>
                </a:solidFill>
              </a:rPr>
              <a:t>Alpha Tech</a:t>
            </a:r>
            <a:endParaRPr lang="en-US" sz="1300" dirty="0"/>
          </a:p>
        </p:txBody>
      </p:sp>
      <p:sp>
        <p:nvSpPr>
          <p:cNvPr id="37" name="Text 32"/>
          <p:cNvSpPr txBox="1"/>
          <p:nvPr/>
        </p:nvSpPr>
        <p:spPr>
          <a:xfrm>
            <a:off x="3127248" y="3166110"/>
            <a:ext cx="1463040" cy="457200"/>
          </a:xfrm>
          <a:prstGeom prst="rect">
            <a:avLst/>
          </a:prstGeom>
          <a:noFill/>
          <a:ln/>
        </p:spPr>
        <p:txBody>
          <a:bodyPr wrap="square" lIns="0" tIns="0" rIns="0" bIns="0" rtlCol="0" anchor="t"/>
          <a:lstStyle/>
          <a:p>
            <a:pPr indent="0" marL="0">
              <a:buNone/>
            </a:pPr>
            <a:r>
              <a:rPr lang="en-US" sz="1200" i="1" dirty="0">
                <a:solidFill>
                  <a:srgbClr val="57606A"/>
                </a:solidFill>
              </a:rPr>
              <a:t>cùng (kinh độ, vĩ độ)</a:t>
            </a:r>
            <a:endParaRPr lang="en-US" sz="1200" dirty="0"/>
          </a:p>
        </p:txBody>
      </p:sp>
      <p:sp>
        <p:nvSpPr>
          <p:cNvPr id="38" name="Text 33"/>
          <p:cNvSpPr txBox="1"/>
          <p:nvPr/>
        </p:nvSpPr>
        <p:spPr>
          <a:xfrm>
            <a:off x="4937760" y="1463040"/>
            <a:ext cx="6675120" cy="411480"/>
          </a:xfrm>
          <a:prstGeom prst="rect">
            <a:avLst/>
          </a:prstGeom>
          <a:noFill/>
          <a:ln/>
        </p:spPr>
        <p:txBody>
          <a:bodyPr wrap="square" lIns="0" tIns="0" rIns="0" bIns="0" rtlCol="0" anchor="t"/>
          <a:lstStyle/>
          <a:p>
            <a:pPr indent="0" marL="0">
              <a:buNone/>
            </a:pPr>
            <a:r>
              <a:rPr lang="en-US" sz="1800" b="1" dirty="0">
                <a:solidFill>
                  <a:schemeClr val="tx2"/>
                </a:solidFill>
              </a:rPr>
              <a:t>IFC One Saigon — 42 tầng, nhiều công ty thuê cùng lúc</a:t>
            </a:r>
            <a:endParaRPr lang="en-US" sz="1800" dirty="0"/>
          </a:p>
        </p:txBody>
      </p:sp>
      <p:sp>
        <p:nvSpPr>
          <p:cNvPr id="39" name="Thẻ Hàng rào 2D"/>
          <p:cNvSpPr/>
          <p:nvPr/>
        </p:nvSpPr>
        <p:spPr>
          <a:xfrm>
            <a:off x="4937760" y="2148840"/>
            <a:ext cx="6675120" cy="1005840"/>
          </a:xfrm>
          <a:prstGeom prst="roundRect">
            <a:avLst>
              <a:gd name="adj" fmla="val 10909"/>
            </a:avLst>
          </a:prstGeom>
          <a:solidFill>
            <a:schemeClr val="bg2"/>
          </a:solidFill>
          <a:ln w="12700">
            <a:solidFill>
              <a:schemeClr val="bg2"/>
            </a:solidFill>
            <a:prstDash val="solid"/>
          </a:ln>
        </p:spPr>
      </p:sp>
      <p:sp>
        <p:nvSpPr>
          <p:cNvPr id="40" name="Biểu tượng Hàng rào 2D (nền)"/>
          <p:cNvSpPr/>
          <p:nvPr/>
        </p:nvSpPr>
        <p:spPr>
          <a:xfrm>
            <a:off x="5166360" y="2331720"/>
            <a:ext cx="640080" cy="640080"/>
          </a:xfrm>
          <a:prstGeom prst="ellipse">
            <a:avLst/>
          </a:prstGeom>
          <a:solidFill>
            <a:schemeClr val="accent4"/>
          </a:solidFill>
          <a:ln w="12700">
            <a:solidFill>
              <a:schemeClr val="accent4"/>
            </a:solidFill>
            <a:prstDash val="solid"/>
          </a:ln>
        </p:spPr>
      </p:sp>
      <p:pic>
        <p:nvPicPr>
          <p:cNvPr id="41" name="Biểu tượng Hàng rào 2D" descr="Biểu tượng Hàng rào 2D">    </p:cNvPr>
          <p:cNvPicPr>
            <a:picLocks noChangeAspect="1"/>
          </p:cNvPicPr>
          <p:nvPr/>
        </p:nvPicPr>
        <p:blipFill>
          <a:blip r:embed="rId3"/>
          <a:stretch>
            <a:fillRect/>
          </a:stretch>
        </p:blipFill>
        <p:spPr>
          <a:xfrm>
            <a:off x="5332781" y="2498141"/>
            <a:ext cx="307238" cy="307238"/>
          </a:xfrm>
          <a:prstGeom prst="rect">
            <a:avLst/>
          </a:prstGeom>
        </p:spPr>
      </p:pic>
      <p:sp>
        <p:nvSpPr>
          <p:cNvPr id="42" name="Text 36"/>
          <p:cNvSpPr txBox="1"/>
          <p:nvPr/>
        </p:nvSpPr>
        <p:spPr>
          <a:xfrm>
            <a:off x="6035040" y="2286000"/>
            <a:ext cx="5394960" cy="365760"/>
          </a:xfrm>
          <a:prstGeom prst="rect">
            <a:avLst/>
          </a:prstGeom>
          <a:noFill/>
          <a:ln/>
        </p:spPr>
        <p:txBody>
          <a:bodyPr wrap="square" lIns="0" tIns="0" rIns="0" bIns="0" rtlCol="0" anchor="t"/>
          <a:lstStyle/>
          <a:p>
            <a:pPr indent="0" marL="0">
              <a:buNone/>
            </a:pPr>
            <a:r>
              <a:rPr lang="en-US" sz="1800" b="1" dirty="0">
                <a:solidFill>
                  <a:schemeClr val="tx2"/>
                </a:solidFill>
              </a:rPr>
              <a:t>Hàng rào 2D</a:t>
            </a:r>
            <a:endParaRPr lang="en-US" sz="1800" dirty="0"/>
          </a:p>
        </p:txBody>
      </p:sp>
      <p:sp>
        <p:nvSpPr>
          <p:cNvPr id="43" name="Text 37"/>
          <p:cNvSpPr txBox="1"/>
          <p:nvPr/>
        </p:nvSpPr>
        <p:spPr>
          <a:xfrm>
            <a:off x="6035040" y="2651760"/>
            <a:ext cx="5394960" cy="411480"/>
          </a:xfrm>
          <a:prstGeom prst="rect">
            <a:avLst/>
          </a:prstGeom>
          <a:noFill/>
          <a:ln/>
        </p:spPr>
        <p:txBody>
          <a:bodyPr wrap="square" lIns="0" tIns="0" rIns="0" bIns="0" rtlCol="0" anchor="t"/>
          <a:lstStyle/>
          <a:p>
            <a:pPr indent="0" marL="0">
              <a:buNone/>
            </a:pPr>
            <a:r>
              <a:rPr lang="en-US" sz="1500" dirty="0">
                <a:solidFill>
                  <a:schemeClr val="tx1"/>
                </a:solidFill>
              </a:rPr>
              <a:t>Chỉ hỏi: điểm có nằm trong đa giác văn phòng không?</a:t>
            </a:r>
            <a:endParaRPr lang="en-US" sz="1500" dirty="0"/>
          </a:p>
        </p:txBody>
      </p:sp>
      <p:sp>
        <p:nvSpPr>
          <p:cNvPr id="44" name="Thẻ Tầng 5 và tầng 22"/>
          <p:cNvSpPr/>
          <p:nvPr/>
        </p:nvSpPr>
        <p:spPr>
          <a:xfrm>
            <a:off x="4937760" y="3337560"/>
            <a:ext cx="6675120" cy="1005840"/>
          </a:xfrm>
          <a:prstGeom prst="roundRect">
            <a:avLst>
              <a:gd name="adj" fmla="val 10909"/>
            </a:avLst>
          </a:prstGeom>
          <a:solidFill>
            <a:schemeClr val="bg2"/>
          </a:solidFill>
          <a:ln w="12700">
            <a:solidFill>
              <a:schemeClr val="bg2"/>
            </a:solidFill>
            <a:prstDash val="solid"/>
          </a:ln>
        </p:spPr>
      </p:sp>
      <p:sp>
        <p:nvSpPr>
          <p:cNvPr id="45" name="Biểu tượng Tầng 5 và tầng 22 (nền)"/>
          <p:cNvSpPr/>
          <p:nvPr/>
        </p:nvSpPr>
        <p:spPr>
          <a:xfrm>
            <a:off x="5166360" y="3520440"/>
            <a:ext cx="640080" cy="640080"/>
          </a:xfrm>
          <a:prstGeom prst="ellipse">
            <a:avLst/>
          </a:prstGeom>
          <a:solidFill>
            <a:schemeClr val="accent3"/>
          </a:solidFill>
          <a:ln w="12700">
            <a:solidFill>
              <a:schemeClr val="accent3"/>
            </a:solidFill>
            <a:prstDash val="solid"/>
          </a:ln>
        </p:spPr>
      </p:sp>
      <p:pic>
        <p:nvPicPr>
          <p:cNvPr id="46" name="Biểu tượng Tầng 5 và tầng 22" descr="Biểu tượng Tầng 5 và tầng 22">    </p:cNvPr>
          <p:cNvPicPr>
            <a:picLocks noChangeAspect="1"/>
          </p:cNvPicPr>
          <p:nvPr/>
        </p:nvPicPr>
        <p:blipFill>
          <a:blip r:embed="rId4"/>
          <a:stretch>
            <a:fillRect/>
          </a:stretch>
        </p:blipFill>
        <p:spPr>
          <a:xfrm>
            <a:off x="5332781" y="3686861"/>
            <a:ext cx="307238" cy="307238"/>
          </a:xfrm>
          <a:prstGeom prst="rect">
            <a:avLst/>
          </a:prstGeom>
        </p:spPr>
      </p:pic>
      <p:sp>
        <p:nvSpPr>
          <p:cNvPr id="47" name="Text 40"/>
          <p:cNvSpPr txBox="1"/>
          <p:nvPr/>
        </p:nvSpPr>
        <p:spPr>
          <a:xfrm>
            <a:off x="6035040" y="3474720"/>
            <a:ext cx="5394960" cy="365760"/>
          </a:xfrm>
          <a:prstGeom prst="rect">
            <a:avLst/>
          </a:prstGeom>
          <a:noFill/>
          <a:ln/>
        </p:spPr>
        <p:txBody>
          <a:bodyPr wrap="square" lIns="0" tIns="0" rIns="0" bIns="0" rtlCol="0" anchor="t"/>
          <a:lstStyle/>
          <a:p>
            <a:pPr indent="0" marL="0">
              <a:buNone/>
            </a:pPr>
            <a:r>
              <a:rPr lang="en-US" sz="1800" b="1" dirty="0">
                <a:solidFill>
                  <a:schemeClr val="tx2"/>
                </a:solidFill>
              </a:rPr>
              <a:t>Tầng 5 và tầng 22</a:t>
            </a:r>
            <a:endParaRPr lang="en-US" sz="1800" dirty="0"/>
          </a:p>
        </p:txBody>
      </p:sp>
      <p:sp>
        <p:nvSpPr>
          <p:cNvPr id="48" name="Text 41"/>
          <p:cNvSpPr txBox="1"/>
          <p:nvPr/>
        </p:nvSpPr>
        <p:spPr>
          <a:xfrm>
            <a:off x="6035040" y="3840480"/>
            <a:ext cx="5394960" cy="411480"/>
          </a:xfrm>
          <a:prstGeom prst="rect">
            <a:avLst/>
          </a:prstGeom>
          <a:noFill/>
          <a:ln/>
        </p:spPr>
        <p:txBody>
          <a:bodyPr wrap="square" lIns="0" tIns="0" rIns="0" bIns="0" rtlCol="0" anchor="t"/>
          <a:lstStyle/>
          <a:p>
            <a:pPr indent="0" marL="0">
              <a:buNone/>
            </a:pPr>
            <a:r>
              <a:rPr lang="en-US" sz="1500" dirty="0">
                <a:solidFill>
                  <a:schemeClr val="tx1"/>
                </a:solidFill>
              </a:rPr>
              <a:t>Cùng kinh độ, vĩ độ → hệ 2D chấp nhận cả hai</a:t>
            </a:r>
            <a:endParaRPr lang="en-US" sz="1500" dirty="0"/>
          </a:p>
        </p:txBody>
      </p:sp>
      <p:sp>
        <p:nvSpPr>
          <p:cNvPr id="49" name="Thẻ Hệ quả"/>
          <p:cNvSpPr/>
          <p:nvPr/>
        </p:nvSpPr>
        <p:spPr>
          <a:xfrm>
            <a:off x="4937760" y="4526280"/>
            <a:ext cx="6675120" cy="1005840"/>
          </a:xfrm>
          <a:prstGeom prst="roundRect">
            <a:avLst>
              <a:gd name="adj" fmla="val 10909"/>
            </a:avLst>
          </a:prstGeom>
          <a:solidFill>
            <a:schemeClr val="bg2"/>
          </a:solidFill>
          <a:ln w="12700">
            <a:solidFill>
              <a:schemeClr val="bg2"/>
            </a:solidFill>
            <a:prstDash val="solid"/>
          </a:ln>
        </p:spPr>
      </p:sp>
      <p:sp>
        <p:nvSpPr>
          <p:cNvPr id="50" name="Biểu tượng Hệ quả (nền)"/>
          <p:cNvSpPr/>
          <p:nvPr/>
        </p:nvSpPr>
        <p:spPr>
          <a:xfrm>
            <a:off x="5166360" y="4709160"/>
            <a:ext cx="640080" cy="640080"/>
          </a:xfrm>
          <a:prstGeom prst="ellipse">
            <a:avLst/>
          </a:prstGeom>
          <a:solidFill>
            <a:schemeClr val="accent1"/>
          </a:solidFill>
          <a:ln w="12700">
            <a:solidFill>
              <a:schemeClr val="accent1"/>
            </a:solidFill>
            <a:prstDash val="solid"/>
          </a:ln>
        </p:spPr>
      </p:sp>
      <p:pic>
        <p:nvPicPr>
          <p:cNvPr id="51" name="Biểu tượng Hệ quả" descr="Biểu tượng Hệ quả">    </p:cNvPr>
          <p:cNvPicPr>
            <a:picLocks noChangeAspect="1"/>
          </p:cNvPicPr>
          <p:nvPr/>
        </p:nvPicPr>
        <p:blipFill>
          <a:blip r:embed="rId5"/>
          <a:stretch>
            <a:fillRect/>
          </a:stretch>
        </p:blipFill>
        <p:spPr>
          <a:xfrm>
            <a:off x="5332781" y="4875581"/>
            <a:ext cx="307238" cy="307238"/>
          </a:xfrm>
          <a:prstGeom prst="rect">
            <a:avLst/>
          </a:prstGeom>
        </p:spPr>
      </p:pic>
      <p:sp>
        <p:nvSpPr>
          <p:cNvPr id="52" name="Text 44"/>
          <p:cNvSpPr txBox="1"/>
          <p:nvPr/>
        </p:nvSpPr>
        <p:spPr>
          <a:xfrm>
            <a:off x="6035040" y="4663440"/>
            <a:ext cx="5394960" cy="365760"/>
          </a:xfrm>
          <a:prstGeom prst="rect">
            <a:avLst/>
          </a:prstGeom>
          <a:noFill/>
          <a:ln/>
        </p:spPr>
        <p:txBody>
          <a:bodyPr wrap="square" lIns="0" tIns="0" rIns="0" bIns="0" rtlCol="0" anchor="t"/>
          <a:lstStyle/>
          <a:p>
            <a:pPr indent="0" marL="0">
              <a:buNone/>
            </a:pPr>
            <a:r>
              <a:rPr lang="en-US" sz="1800" b="1" dirty="0">
                <a:solidFill>
                  <a:schemeClr val="tx2"/>
                </a:solidFill>
              </a:rPr>
              <a:t>Hệ quả</a:t>
            </a:r>
            <a:endParaRPr lang="en-US" sz="1800" dirty="0"/>
          </a:p>
        </p:txBody>
      </p:sp>
      <p:sp>
        <p:nvSpPr>
          <p:cNvPr id="53" name="Text 45"/>
          <p:cNvSpPr txBox="1"/>
          <p:nvPr/>
        </p:nvSpPr>
        <p:spPr>
          <a:xfrm>
            <a:off x="6035040" y="5029200"/>
            <a:ext cx="5394960" cy="411480"/>
          </a:xfrm>
          <a:prstGeom prst="rect">
            <a:avLst/>
          </a:prstGeom>
          <a:noFill/>
          <a:ln/>
        </p:spPr>
        <p:txBody>
          <a:bodyPr wrap="square" lIns="0" tIns="0" rIns="0" bIns="0" rtlCol="0" anchor="t"/>
          <a:lstStyle/>
          <a:p>
            <a:pPr indent="0" marL="0">
              <a:buNone/>
            </a:pPr>
            <a:r>
              <a:rPr lang="en-US" sz="1500" dirty="0">
                <a:solidFill>
                  <a:schemeClr val="tx1"/>
                </a:solidFill>
              </a:rPr>
              <a:t>Ngồi ở văn phòng công ty khác vài chục tầng vẫn được ghi công</a:t>
            </a:r>
            <a:endParaRPr lang="en-US" sz="1500" dirty="0"/>
          </a:p>
        </p:txBody>
      </p:sp>
      <p:sp>
        <p:nvSpPr>
          <p:cNvPr id="54" name="Text 46"/>
          <p:cNvSpPr txBox="1"/>
          <p:nvPr/>
        </p:nvSpPr>
        <p:spPr>
          <a:xfrm>
            <a:off x="4937760" y="5760720"/>
            <a:ext cx="6675120" cy="411480"/>
          </a:xfrm>
          <a:prstGeom prst="rect">
            <a:avLst/>
          </a:prstGeom>
          <a:noFill/>
          <a:ln/>
        </p:spPr>
        <p:txBody>
          <a:bodyPr wrap="square" lIns="0" tIns="0" rIns="0" bIns="0" rtlCol="0" anchor="t"/>
          <a:lstStyle/>
          <a:p>
            <a:pPr indent="0" marL="0">
              <a:buNone/>
            </a:pPr>
            <a:r>
              <a:rPr lang="en-US" sz="1800" b="1" i="1" dirty="0">
                <a:solidFill>
                  <a:schemeClr val="accent1"/>
                </a:solidFill>
              </a:rPr>
              <a:t>Thiếu một chiều: chiều cao.</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94415" cy="777240"/>
          </a:xfrm>
          <a:prstGeom prst="rect">
            <a:avLst/>
          </a:prstGeom>
          <a:noFill/>
          <a:ln/>
        </p:spPr>
        <p:txBody>
          <a:bodyPr wrap="square"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Mục tiêu đề tài</a:t>
            </a:r>
            <a:endParaRPr lang="en-US" sz="3200" dirty="0"/>
          </a:p>
        </p:txBody>
      </p:sp>
      <p:sp>
        <p:nvSpPr>
          <p:cNvPr id="4" name="Mục tiêu 1"/>
          <p:cNvSpPr/>
          <p:nvPr/>
        </p:nvSpPr>
        <p:spPr>
          <a:xfrm>
            <a:off x="548640" y="1600200"/>
            <a:ext cx="3520440" cy="4206240"/>
          </a:xfrm>
          <a:prstGeom prst="roundRect">
            <a:avLst>
              <a:gd name="adj" fmla="val 3117"/>
            </a:avLst>
          </a:prstGeom>
          <a:solidFill>
            <a:schemeClr val="bg2"/>
          </a:solidFill>
          <a:ln w="12700">
            <a:solidFill>
              <a:schemeClr val="bg2"/>
            </a:solidFill>
            <a:prstDash val="solid"/>
          </a:ln>
        </p:spPr>
      </p:sp>
      <p:sp>
        <p:nvSpPr>
          <p:cNvPr id="5" name="Biểu tượng mục tiêu 1 (nền)"/>
          <p:cNvSpPr/>
          <p:nvPr/>
        </p:nvSpPr>
        <p:spPr>
          <a:xfrm>
            <a:off x="868680" y="1965960"/>
            <a:ext cx="914400" cy="914400"/>
          </a:xfrm>
          <a:prstGeom prst="ellipse">
            <a:avLst/>
          </a:prstGeom>
          <a:solidFill>
            <a:schemeClr val="accent5"/>
          </a:solidFill>
          <a:ln w="12700">
            <a:solidFill>
              <a:schemeClr val="accent5"/>
            </a:solidFill>
            <a:prstDash val="solid"/>
          </a:ln>
        </p:spPr>
      </p:sp>
      <p:pic>
        <p:nvPicPr>
          <p:cNvPr id="6" name="Biểu tượng mục tiêu 1" descr="Biểu tượng mục tiêu 1">    </p:cNvPr>
          <p:cNvPicPr>
            <a:picLocks noChangeAspect="1"/>
          </p:cNvPicPr>
          <p:nvPr/>
        </p:nvPicPr>
        <p:blipFill>
          <a:blip r:embed="rId1"/>
          <a:stretch>
            <a:fillRect/>
          </a:stretch>
        </p:blipFill>
        <p:spPr>
          <a:xfrm>
            <a:off x="1106424" y="2203704"/>
            <a:ext cx="438912" cy="438912"/>
          </a:xfrm>
          <a:prstGeom prst="rect">
            <a:avLst/>
          </a:prstGeom>
        </p:spPr>
      </p:pic>
      <p:sp>
        <p:nvSpPr>
          <p:cNvPr id="7" name="Text 3"/>
          <p:cNvSpPr txBox="1"/>
          <p:nvPr/>
        </p:nvSpPr>
        <p:spPr>
          <a:xfrm>
            <a:off x="2971800" y="2011680"/>
            <a:ext cx="822960" cy="731520"/>
          </a:xfrm>
          <a:prstGeom prst="rect">
            <a:avLst/>
          </a:prstGeom>
          <a:noFill/>
          <a:ln/>
        </p:spPr>
        <p:txBody>
          <a:bodyPr wrap="square" lIns="0" tIns="0" rIns="0" bIns="0" rtlCol="0" anchor="t"/>
          <a:lstStyle/>
          <a:p>
            <a:pPr algn="r" indent="0" marL="0">
              <a:buNone/>
            </a:pPr>
            <a:r>
              <a:rPr lang="en-US" sz="3600" b="1" dirty="0">
                <a:solidFill>
                  <a:srgbClr val="C9D1D9"/>
                </a:solidFill>
                <a:latin typeface="Cambria" pitchFamily="34" charset="0"/>
                <a:ea typeface="Cambria" pitchFamily="34" charset="-122"/>
                <a:cs typeface="Cambria" pitchFamily="34" charset="-120"/>
              </a:rPr>
              <a:t>01</a:t>
            </a:r>
            <a:endParaRPr lang="en-US" sz="3600" dirty="0"/>
          </a:p>
        </p:txBody>
      </p:sp>
      <p:sp>
        <p:nvSpPr>
          <p:cNvPr id="8" name="Text 4"/>
          <p:cNvSpPr txBox="1"/>
          <p:nvPr/>
        </p:nvSpPr>
        <p:spPr>
          <a:xfrm>
            <a:off x="868680" y="3154680"/>
            <a:ext cx="2880360" cy="457200"/>
          </a:xfrm>
          <a:prstGeom prst="rect">
            <a:avLst/>
          </a:prstGeom>
          <a:noFill/>
          <a:ln/>
        </p:spPr>
        <p:txBody>
          <a:bodyPr wrap="square" lIns="0" tIns="0" rIns="0" bIns="0" rtlCol="0" anchor="t"/>
          <a:lstStyle/>
          <a:p>
            <a:pPr indent="0" marL="0">
              <a:buNone/>
            </a:pPr>
            <a:r>
              <a:rPr lang="en-US" sz="2100" b="1" dirty="0">
                <a:solidFill>
                  <a:schemeClr val="tx2"/>
                </a:solidFill>
              </a:rPr>
              <a:t>Điểm thuộc khối</a:t>
            </a:r>
            <a:endParaRPr lang="en-US" sz="2100" dirty="0"/>
          </a:p>
        </p:txBody>
      </p:sp>
      <p:sp>
        <p:nvSpPr>
          <p:cNvPr id="9" name="Text 5"/>
          <p:cNvSpPr txBox="1"/>
          <p:nvPr/>
        </p:nvSpPr>
        <p:spPr>
          <a:xfrm>
            <a:off x="868680" y="3749040"/>
            <a:ext cx="2880360" cy="1828800"/>
          </a:xfrm>
          <a:prstGeom prst="rect">
            <a:avLst/>
          </a:prstGeom>
          <a:noFill/>
          <a:ln/>
        </p:spPr>
        <p:txBody>
          <a:bodyPr wrap="square" lIns="0" tIns="0" rIns="0" bIns="0" rtlCol="0" anchor="t"/>
          <a:lstStyle/>
          <a:p>
            <a:pPr indent="0" marL="0">
              <a:buNone/>
            </a:pPr>
            <a:r>
              <a:rPr lang="en-US" sz="1600" dirty="0">
                <a:solidFill>
                  <a:schemeClr val="tx1"/>
                </a:solidFill>
              </a:rPr>
              <a:t>Chuyển phép kiểm tra từ “điểm thuộc đa giác” sang “điểm thuộc khối” để xác thực được tầng.</a:t>
            </a:r>
            <a:endParaRPr lang="en-US" sz="1600" dirty="0"/>
          </a:p>
        </p:txBody>
      </p:sp>
      <p:sp>
        <p:nvSpPr>
          <p:cNvPr id="10" name="Mục tiêu 2"/>
          <p:cNvSpPr/>
          <p:nvPr/>
        </p:nvSpPr>
        <p:spPr>
          <a:xfrm>
            <a:off x="4315968" y="1600200"/>
            <a:ext cx="3520440" cy="4206240"/>
          </a:xfrm>
          <a:prstGeom prst="roundRect">
            <a:avLst>
              <a:gd name="adj" fmla="val 3117"/>
            </a:avLst>
          </a:prstGeom>
          <a:solidFill>
            <a:schemeClr val="bg2"/>
          </a:solidFill>
          <a:ln w="12700">
            <a:solidFill>
              <a:schemeClr val="bg2"/>
            </a:solidFill>
            <a:prstDash val="solid"/>
          </a:ln>
        </p:spPr>
      </p:sp>
      <p:sp>
        <p:nvSpPr>
          <p:cNvPr id="11" name="Biểu tượng mục tiêu 2 (nền)"/>
          <p:cNvSpPr/>
          <p:nvPr/>
        </p:nvSpPr>
        <p:spPr>
          <a:xfrm>
            <a:off x="4636008" y="1965960"/>
            <a:ext cx="914400" cy="914400"/>
          </a:xfrm>
          <a:prstGeom prst="ellipse">
            <a:avLst/>
          </a:prstGeom>
          <a:solidFill>
            <a:schemeClr val="accent3"/>
          </a:solidFill>
          <a:ln w="12700">
            <a:solidFill>
              <a:schemeClr val="accent3"/>
            </a:solidFill>
            <a:prstDash val="solid"/>
          </a:ln>
        </p:spPr>
      </p:sp>
      <p:pic>
        <p:nvPicPr>
          <p:cNvPr id="12" name="Biểu tượng mục tiêu 2" descr="Biểu tượng mục tiêu 2">    </p:cNvPr>
          <p:cNvPicPr>
            <a:picLocks noChangeAspect="1"/>
          </p:cNvPicPr>
          <p:nvPr/>
        </p:nvPicPr>
        <p:blipFill>
          <a:blip r:embed="rId2"/>
          <a:stretch>
            <a:fillRect/>
          </a:stretch>
        </p:blipFill>
        <p:spPr>
          <a:xfrm>
            <a:off x="4873752" y="2203704"/>
            <a:ext cx="438912" cy="438912"/>
          </a:xfrm>
          <a:prstGeom prst="rect">
            <a:avLst/>
          </a:prstGeom>
        </p:spPr>
      </p:pic>
      <p:sp>
        <p:nvSpPr>
          <p:cNvPr id="13" name="Text 8"/>
          <p:cNvSpPr txBox="1"/>
          <p:nvPr/>
        </p:nvSpPr>
        <p:spPr>
          <a:xfrm>
            <a:off x="6739128" y="2011680"/>
            <a:ext cx="822960" cy="731520"/>
          </a:xfrm>
          <a:prstGeom prst="rect">
            <a:avLst/>
          </a:prstGeom>
          <a:noFill/>
          <a:ln/>
        </p:spPr>
        <p:txBody>
          <a:bodyPr wrap="square" lIns="0" tIns="0" rIns="0" bIns="0" rtlCol="0" anchor="t"/>
          <a:lstStyle/>
          <a:p>
            <a:pPr algn="r" indent="0" marL="0">
              <a:buNone/>
            </a:pPr>
            <a:r>
              <a:rPr lang="en-US" sz="3600" b="1" dirty="0">
                <a:solidFill>
                  <a:srgbClr val="C9D1D9"/>
                </a:solidFill>
                <a:latin typeface="Cambria" pitchFamily="34" charset="0"/>
                <a:ea typeface="Cambria" pitchFamily="34" charset="-122"/>
                <a:cs typeface="Cambria" pitchFamily="34" charset="-120"/>
              </a:rPr>
              <a:t>02</a:t>
            </a:r>
            <a:endParaRPr lang="en-US" sz="3600" dirty="0"/>
          </a:p>
        </p:txBody>
      </p:sp>
      <p:sp>
        <p:nvSpPr>
          <p:cNvPr id="14" name="Text 9"/>
          <p:cNvSpPr txBox="1"/>
          <p:nvPr/>
        </p:nvSpPr>
        <p:spPr>
          <a:xfrm>
            <a:off x="4636008" y="3154680"/>
            <a:ext cx="2880360" cy="457200"/>
          </a:xfrm>
          <a:prstGeom prst="rect">
            <a:avLst/>
          </a:prstGeom>
          <a:noFill/>
          <a:ln/>
        </p:spPr>
        <p:txBody>
          <a:bodyPr wrap="square" lIns="0" tIns="0" rIns="0" bIns="0" rtlCol="0" anchor="t"/>
          <a:lstStyle/>
          <a:p>
            <a:pPr indent="0" marL="0">
              <a:buNone/>
            </a:pPr>
            <a:r>
              <a:rPr lang="en-US" sz="2100" b="1" dirty="0">
                <a:solidFill>
                  <a:schemeClr val="tx2"/>
                </a:solidFill>
              </a:rPr>
              <a:t>Phát hiện bất thường</a:t>
            </a:r>
            <a:endParaRPr lang="en-US" sz="2100" dirty="0"/>
          </a:p>
        </p:txBody>
      </p:sp>
      <p:sp>
        <p:nvSpPr>
          <p:cNvPr id="15" name="Text 10"/>
          <p:cNvSpPr txBox="1"/>
          <p:nvPr/>
        </p:nvSpPr>
        <p:spPr>
          <a:xfrm>
            <a:off x="4636008" y="3749040"/>
            <a:ext cx="2880360" cy="1828800"/>
          </a:xfrm>
          <a:prstGeom prst="rect">
            <a:avLst/>
          </a:prstGeom>
          <a:noFill/>
          <a:ln/>
        </p:spPr>
        <p:txBody>
          <a:bodyPr wrap="square" lIns="0" tIns="0" rIns="0" bIns="0" rtlCol="0" anchor="t"/>
          <a:lstStyle/>
          <a:p>
            <a:pPr indent="0" marL="0">
              <a:buNone/>
            </a:pPr>
            <a:r>
              <a:rPr lang="en-US" sz="1600" dirty="0">
                <a:solidFill>
                  <a:schemeClr val="tx1"/>
                </a:solidFill>
              </a:rPr>
              <a:t>Ba trạng thái HỢP LỆ · NGHI NGỜ · NGOÀI VÙNG và bốn quy tắc R1–R4 thay cho đúng/sai.</a:t>
            </a:r>
            <a:endParaRPr lang="en-US" sz="1600" dirty="0"/>
          </a:p>
        </p:txBody>
      </p:sp>
      <p:sp>
        <p:nvSpPr>
          <p:cNvPr id="16" name="Mục tiêu 3"/>
          <p:cNvSpPr/>
          <p:nvPr/>
        </p:nvSpPr>
        <p:spPr>
          <a:xfrm>
            <a:off x="8083296" y="1600200"/>
            <a:ext cx="3520440" cy="4206240"/>
          </a:xfrm>
          <a:prstGeom prst="roundRect">
            <a:avLst>
              <a:gd name="adj" fmla="val 3117"/>
            </a:avLst>
          </a:prstGeom>
          <a:solidFill>
            <a:schemeClr val="bg2"/>
          </a:solidFill>
          <a:ln w="12700">
            <a:solidFill>
              <a:schemeClr val="bg2"/>
            </a:solidFill>
            <a:prstDash val="solid"/>
          </a:ln>
        </p:spPr>
      </p:sp>
      <p:sp>
        <p:nvSpPr>
          <p:cNvPr id="17" name="Biểu tượng mục tiêu 3 (nền)"/>
          <p:cNvSpPr/>
          <p:nvPr/>
        </p:nvSpPr>
        <p:spPr>
          <a:xfrm>
            <a:off x="8403336" y="1965960"/>
            <a:ext cx="914400" cy="914400"/>
          </a:xfrm>
          <a:prstGeom prst="ellipse">
            <a:avLst/>
          </a:prstGeom>
          <a:solidFill>
            <a:schemeClr val="accent2"/>
          </a:solidFill>
          <a:ln w="12700">
            <a:solidFill>
              <a:schemeClr val="accent2"/>
            </a:solidFill>
            <a:prstDash val="solid"/>
          </a:ln>
        </p:spPr>
      </p:sp>
      <p:pic>
        <p:nvPicPr>
          <p:cNvPr id="18" name="Biểu tượng mục tiêu 3" descr="Biểu tượng mục tiêu 3">    </p:cNvPr>
          <p:cNvPicPr>
            <a:picLocks noChangeAspect="1"/>
          </p:cNvPicPr>
          <p:nvPr/>
        </p:nvPicPr>
        <p:blipFill>
          <a:blip r:embed="rId3"/>
          <a:stretch>
            <a:fillRect/>
          </a:stretch>
        </p:blipFill>
        <p:spPr>
          <a:xfrm>
            <a:off x="8641080" y="2203704"/>
            <a:ext cx="438912" cy="438912"/>
          </a:xfrm>
          <a:prstGeom prst="rect">
            <a:avLst/>
          </a:prstGeom>
        </p:spPr>
      </p:pic>
      <p:sp>
        <p:nvSpPr>
          <p:cNvPr id="19" name="Text 13"/>
          <p:cNvSpPr txBox="1"/>
          <p:nvPr/>
        </p:nvSpPr>
        <p:spPr>
          <a:xfrm>
            <a:off x="10506456" y="2011680"/>
            <a:ext cx="822960" cy="731520"/>
          </a:xfrm>
          <a:prstGeom prst="rect">
            <a:avLst/>
          </a:prstGeom>
          <a:noFill/>
          <a:ln/>
        </p:spPr>
        <p:txBody>
          <a:bodyPr wrap="square" lIns="0" tIns="0" rIns="0" bIns="0" rtlCol="0" anchor="t"/>
          <a:lstStyle/>
          <a:p>
            <a:pPr algn="r" indent="0" marL="0">
              <a:buNone/>
            </a:pPr>
            <a:r>
              <a:rPr lang="en-US" sz="3600" b="1" dirty="0">
                <a:solidFill>
                  <a:srgbClr val="C9D1D9"/>
                </a:solidFill>
                <a:latin typeface="Cambria" pitchFamily="34" charset="0"/>
                <a:ea typeface="Cambria" pitchFamily="34" charset="-122"/>
                <a:cs typeface="Cambria" pitchFamily="34" charset="-120"/>
              </a:rPr>
              <a:t>03</a:t>
            </a:r>
            <a:endParaRPr lang="en-US" sz="3600" dirty="0"/>
          </a:p>
        </p:txBody>
      </p:sp>
      <p:sp>
        <p:nvSpPr>
          <p:cNvPr id="20" name="Text 14"/>
          <p:cNvSpPr txBox="1"/>
          <p:nvPr/>
        </p:nvSpPr>
        <p:spPr>
          <a:xfrm>
            <a:off x="8403336" y="3154680"/>
            <a:ext cx="2880360" cy="457200"/>
          </a:xfrm>
          <a:prstGeom prst="rect">
            <a:avLst/>
          </a:prstGeom>
          <a:noFill/>
          <a:ln/>
        </p:spPr>
        <p:txBody>
          <a:bodyPr wrap="square" lIns="0" tIns="0" rIns="0" bIns="0" rtlCol="0" anchor="t"/>
          <a:lstStyle/>
          <a:p>
            <a:pPr indent="0" marL="0">
              <a:buNone/>
            </a:pPr>
            <a:r>
              <a:rPr lang="en-US" sz="2100" b="1" dirty="0">
                <a:solidFill>
                  <a:schemeClr val="tx2"/>
                </a:solidFill>
              </a:rPr>
              <a:t>Quản lý &amp; trực quan 3D</a:t>
            </a:r>
            <a:endParaRPr lang="en-US" sz="2100" dirty="0"/>
          </a:p>
        </p:txBody>
      </p:sp>
      <p:sp>
        <p:nvSpPr>
          <p:cNvPr id="21" name="Text 15"/>
          <p:cNvSpPr txBox="1"/>
          <p:nvPr/>
        </p:nvSpPr>
        <p:spPr>
          <a:xfrm>
            <a:off x="8403336" y="3749040"/>
            <a:ext cx="2880360" cy="1828800"/>
          </a:xfrm>
          <a:prstGeom prst="rect">
            <a:avLst/>
          </a:prstGeom>
          <a:noFill/>
          <a:ln/>
        </p:spPr>
        <p:txBody>
          <a:bodyPr wrap="square" lIns="0" tIns="0" rIns="0" bIns="0" rtlCol="0" anchor="t"/>
          <a:lstStyle/>
          <a:p>
            <a:pPr indent="0" marL="0">
              <a:buNone/>
            </a:pPr>
            <a:r>
              <a:rPr lang="en-US" sz="1600" dirty="0">
                <a:solidFill>
                  <a:schemeClr val="tx1"/>
                </a:solidFill>
              </a:rPr>
              <a:t>Thêm / sửa / xoá, thống kê dữ liệu nền; bản đồ 3D mức chi tiết 3 (LOD3).</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ph idx="100" type="body" hasCustomPrompt="1"/>
          </p:nvPr>
        </p:nvSpPr>
        <p:spPr>
          <a:xfrm>
            <a:off x="548640" y="2011680"/>
            <a:ext cx="2743200" cy="1097280"/>
          </a:xfrm>
          <a:prstGeom prst="rect">
            <a:avLst/>
          </a:prstGeom>
          <a:noFill/>
          <a:ln/>
        </p:spPr>
        <p:txBody>
          <a:bodyPr wrap="square" rtlCol="0"/>
          <a:lstStyle/>
          <a:p>
            <a:pPr algn="l" indent="0" marL="0">
              <a:buNone/>
            </a:pPr>
            <a:r>
              <a:rPr lang="en-US" sz="6000" b="1" dirty="0">
                <a:solidFill>
                  <a:schemeClr val="accent1"/>
                </a:solidFill>
                <a:latin typeface="Cambria" pitchFamily="34" charset="0"/>
                <a:ea typeface="Cambria" pitchFamily="34" charset="-122"/>
                <a:cs typeface="Cambria" pitchFamily="34" charset="-120"/>
              </a:rPr>
              <a:t>01</a:t>
            </a:r>
            <a:endParaRPr lang="en-US" sz="6000" dirty="0"/>
          </a:p>
        </p:txBody>
      </p:sp>
      <p:sp>
        <p:nvSpPr>
          <p:cNvPr id="4" name="Text 0"/>
          <p:cNvSpPr/>
          <p:nvPr>
            <p:ph idx="101" type="title" hasCustomPrompt="1"/>
          </p:nvPr>
        </p:nvSpPr>
        <p:spPr>
          <a:xfrm>
            <a:off x="548640" y="3108960"/>
            <a:ext cx="10058400" cy="1097280"/>
          </a:xfrm>
          <a:prstGeom prst="rect">
            <a:avLst/>
          </a:prstGeom>
          <a:noFill/>
          <a:ln/>
        </p:spPr>
        <p:txBody>
          <a:bodyPr wrap="square" rtlCol="0"/>
          <a:lstStyle/>
          <a:p>
            <a:pPr algn="l" indent="0" marL="0">
              <a:buNone/>
            </a:pPr>
            <a:r>
              <a:rPr lang="en-US" sz="4000" b="1" dirty="0">
                <a:solidFill>
                  <a:schemeClr val="bg1"/>
                </a:solidFill>
                <a:latin typeface="Cambria" pitchFamily="34" charset="0"/>
                <a:ea typeface="Cambria" pitchFamily="34" charset="-122"/>
                <a:cs typeface="Cambria" pitchFamily="34" charset="-120"/>
              </a:rPr>
              <a:t>Phân tích và mô hình hoá</a:t>
            </a:r>
            <a:endParaRPr lang="en-US" sz="4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94415" cy="777240"/>
          </a:xfrm>
          <a:prstGeom prst="rect">
            <a:avLst/>
          </a:prstGeom>
          <a:noFill/>
          <a:ln/>
        </p:spPr>
        <p:txBody>
          <a:bodyPr wrap="square"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So sánh các mô hình dữ liệu 3D đã học</a:t>
            </a:r>
            <a:endParaRPr lang="en-US" sz="3200" dirty="0"/>
          </a:p>
        </p:txBody>
      </p:sp>
      <p:sp>
        <p:nvSpPr>
          <p:cNvPr id="4" name="Text 1"/>
          <p:cNvSpPr txBox="1"/>
          <p:nvPr/>
        </p:nvSpPr>
        <p:spPr>
          <a:xfrm>
            <a:off x="548640" y="1188720"/>
            <a:ext cx="10972800" cy="365760"/>
          </a:xfrm>
          <a:prstGeom prst="rect">
            <a:avLst/>
          </a:prstGeom>
          <a:noFill/>
          <a:ln/>
        </p:spPr>
        <p:txBody>
          <a:bodyPr wrap="square" lIns="0" tIns="0" rIns="0" bIns="0" rtlCol="0" anchor="t"/>
          <a:lstStyle/>
          <a:p>
            <a:pPr indent="0" marL="0">
              <a:buNone/>
            </a:pPr>
            <a:r>
              <a:rPr lang="en-US" sz="1500" i="1" dirty="0">
                <a:solidFill>
                  <a:srgbClr val="57606A"/>
                </a:solidFill>
              </a:rPr>
              <a:t>B-REP · Voxel · CSG · Tổ hợp — bài toán chỉ cần một lăng trụ đứng có đáy là mặt sàn được thuê</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2743200"/>
                <a:gridCol w="1188720"/>
                <a:gridCol w="2743200"/>
                <a:gridCol w="4389120"/>
              </a:tblGrid>
              <a:tr h="512064">
                <a:tc>
                  <a:txBody>
                    <a:bodyPr/>
                    <a:lstStyle/>
                    <a:p>
                      <a:pPr indent="0" marL="0">
                        <a:buNone/>
                      </a:pPr>
                      <a:r>
                        <a:rPr lang="en-US" sz="1400" b="1" dirty="0">
                          <a:solidFill>
                            <a:schemeClr val="bg1"/>
                          </a:solidFill>
                        </a:rPr>
                        <a:t>Mô hình</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Hướng</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Nguyên tố</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Với bài toán chấm công</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tx2"/>
                    </a:solidFill>
                  </a:tcPr>
                </a:tc>
              </a:tr>
              <a:tr h="512064">
                <a:tc>
                  <a:txBody>
                    <a:bodyPr/>
                    <a:lstStyle/>
                    <a:p>
                      <a:pPr indent="0" marL="0">
                        <a:buNone/>
                      </a:pPr>
                      <a:r>
                        <a:rPr lang="en-US" sz="1400" dirty="0">
                          <a:solidFill>
                            <a:schemeClr val="tx1"/>
                          </a:solidFill>
                        </a:rPr>
                        <a:t>3D-FDS (Molenaar, 1990)</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B-REP</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NODE, ARC, EDGE, FACE</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Lưu thừa ARC, EDGE — dữ liệu lớn</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2"/>
                    </a:solidFill>
                  </a:tcPr>
                </a:tc>
              </a:tr>
              <a:tr h="512064">
                <a:tc>
                  <a:txBody>
                    <a:bodyPr/>
                    <a:lstStyle/>
                    <a:p>
                      <a:pPr indent="0" marL="0">
                        <a:buNone/>
                      </a:pPr>
                      <a:r>
                        <a:rPr lang="en-US" sz="1400" b="1" dirty="0">
                          <a:solidFill>
                            <a:schemeClr val="bg1"/>
                          </a:solidFill>
                        </a:rPr>
                        <a:t>SSM (Zlatanova, 2000)</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B-REP</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NODE, FACE</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Gọn, làm cho web 3D, có FACE IN BODY → chọn</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accent1"/>
                    </a:solidFill>
                  </a:tcPr>
                </a:tc>
              </a:tr>
              <a:tr h="512064">
                <a:tc>
                  <a:txBody>
                    <a:bodyPr/>
                    <a:lstStyle/>
                    <a:p>
                      <a:pPr indent="0" marL="0">
                        <a:buNone/>
                      </a:pPr>
                      <a:r>
                        <a:rPr lang="en-US" sz="1400" dirty="0">
                          <a:solidFill>
                            <a:schemeClr val="tx1"/>
                          </a:solidFill>
                        </a:rPr>
                        <a:t>UDM (Coors, 2003)</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B-REP</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NODE, tam giác</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Phải tam giác hoá đáy lõm</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2"/>
                    </a:solidFill>
                  </a:tcPr>
                </a:tc>
              </a:tr>
              <a:tr h="512064">
                <a:tc>
                  <a:txBody>
                    <a:bodyPr/>
                    <a:lstStyle/>
                    <a:p>
                      <a:pPr indent="0" marL="0">
                        <a:buNone/>
                      </a:pPr>
                      <a:r>
                        <a:rPr lang="en-US" sz="1400" dirty="0">
                          <a:solidFill>
                            <a:schemeClr val="tx1"/>
                          </a:solidFill>
                        </a:rPr>
                        <a:t>SUDM</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B-REP</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Chuyên biệt đô thị</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Phức tạp hơn mức cần</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1"/>
                    </a:solidFill>
                  </a:tcPr>
                </a:tc>
              </a:tr>
              <a:tr h="512064">
                <a:tc>
                  <a:txBody>
                    <a:bodyPr/>
                    <a:lstStyle/>
                    <a:p>
                      <a:pPr indent="0" marL="0">
                        <a:buNone/>
                      </a:pPr>
                      <a:r>
                        <a:rPr lang="en-US" sz="1400" dirty="0">
                          <a:solidFill>
                            <a:schemeClr val="tx1"/>
                          </a:solidFill>
                        </a:rPr>
                        <a:t>3D Array / Octree</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Voxel</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Ô lập phương</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Tốn bộ nhớ, biên răng cưa</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2"/>
                    </a:solidFill>
                  </a:tcPr>
                </a:tc>
              </a:tr>
              <a:tr h="512064">
                <a:tc>
                  <a:txBody>
                    <a:bodyPr/>
                    <a:lstStyle/>
                    <a:p>
                      <a:pPr indent="0" marL="0">
                        <a:buNone/>
                      </a:pPr>
                      <a:r>
                        <a:rPr lang="en-US" sz="1400" dirty="0">
                          <a:solidFill>
                            <a:schemeClr val="tx1"/>
                          </a:solidFill>
                        </a:rPr>
                        <a:t>CSG</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CSG</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Khối cơ bản</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Không tả được footprint bất quy tắc</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1"/>
                    </a:solidFill>
                  </a:tcPr>
                </a:tc>
              </a:tr>
              <a:tr h="512064">
                <a:tc>
                  <a:txBody>
                    <a:bodyPr/>
                    <a:lstStyle/>
                    <a:p>
                      <a:pPr indent="0" marL="0">
                        <a:buNone/>
                      </a:pPr>
                      <a:r>
                        <a:rPr lang="en-US" sz="1400" dirty="0">
                          <a:solidFill>
                            <a:schemeClr val="tx1"/>
                          </a:solidFill>
                        </a:rPr>
                        <a:t>V-3D</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Tổ hợp</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NODE, EDGE, FACET + ảnh</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Không cần ảnh mặt dựng</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94415" cy="777240"/>
          </a:xfrm>
          <a:prstGeom prst="rect">
            <a:avLst/>
          </a:prstGeom>
          <a:noFill/>
          <a:ln/>
        </p:spPr>
        <p:txBody>
          <a:bodyPr wrap="square"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Lựa chọn: SSM làm mô hình logic</a:t>
            </a:r>
            <a:endParaRPr lang="en-US" sz="3200" dirty="0"/>
          </a:p>
        </p:txBody>
      </p:sp>
      <p:pic>
        <p:nvPicPr>
          <p:cNvPr id="4" name="Mô hình SSM áp vào khối MAP" descr="Mô hình SSM áp vào khối MAP">    </p:cNvPr>
          <p:cNvPicPr>
            <a:picLocks noChangeAspect="1"/>
          </p:cNvPicPr>
          <p:nvPr/>
        </p:nvPicPr>
        <p:blipFill>
          <a:blip r:embed="rId1"/>
          <a:stretch>
            <a:fillRect/>
          </a:stretch>
        </p:blipFill>
        <p:spPr>
          <a:xfrm>
            <a:off x="548640" y="1840161"/>
            <a:ext cx="7589520" cy="3726317"/>
          </a:xfrm>
          <a:prstGeom prst="rect">
            <a:avLst/>
          </a:prstGeom>
          <a:effectLst>
            <a:outerShdw sx="100000" sy="100000" kx="0" ky="0" algn="bl" rotWithShape="0" blurRad="76200" dist="25400" dir="5400000">
              <a:srgbClr val="000000">
                <a:alpha val="18000"/>
              </a:srgbClr>
            </a:outerShdw>
          </a:effectLst>
        </p:spPr>
      </p:pic>
      <p:sp>
        <p:nvSpPr>
          <p:cNvPr id="5" name="Lý do 1"/>
          <p:cNvSpPr/>
          <p:nvPr/>
        </p:nvSpPr>
        <p:spPr>
          <a:xfrm>
            <a:off x="8412480" y="1417320"/>
            <a:ext cx="3246120" cy="1024128"/>
          </a:xfrm>
          <a:prstGeom prst="roundRect">
            <a:avLst>
              <a:gd name="adj" fmla="val 10714"/>
            </a:avLst>
          </a:prstGeom>
          <a:solidFill>
            <a:schemeClr val="bg2"/>
          </a:solidFill>
          <a:ln w="12700">
            <a:solidFill>
              <a:schemeClr val="bg2"/>
            </a:solidFill>
            <a:prstDash val="solid"/>
          </a:ln>
        </p:spPr>
      </p:sp>
      <p:sp>
        <p:nvSpPr>
          <p:cNvPr id="6" name="Text 2"/>
          <p:cNvSpPr txBox="1"/>
          <p:nvPr/>
        </p:nvSpPr>
        <p:spPr>
          <a:xfrm>
            <a:off x="8613648" y="1536192"/>
            <a:ext cx="2880360" cy="347472"/>
          </a:xfrm>
          <a:prstGeom prst="rect">
            <a:avLst/>
          </a:prstGeom>
          <a:noFill/>
          <a:ln/>
        </p:spPr>
        <p:txBody>
          <a:bodyPr wrap="square" lIns="0" tIns="0" rIns="0" bIns="0" rtlCol="0" anchor="t"/>
          <a:lstStyle/>
          <a:p>
            <a:pPr indent="0" marL="0">
              <a:buNone/>
            </a:pPr>
            <a:r>
              <a:rPr lang="en-US" sz="1600" b="1" dirty="0">
                <a:solidFill>
                  <a:schemeClr val="tx2"/>
                </a:solidFill>
              </a:rPr>
              <a:t>1 văn phòng = 1 BODY</a:t>
            </a:r>
            <a:endParaRPr lang="en-US" sz="1600" dirty="0"/>
          </a:p>
        </p:txBody>
      </p:sp>
      <p:sp>
        <p:nvSpPr>
          <p:cNvPr id="7" name="Text 3"/>
          <p:cNvSpPr txBox="1"/>
          <p:nvPr/>
        </p:nvSpPr>
        <p:spPr>
          <a:xfrm>
            <a:off x="8613648" y="1892808"/>
            <a:ext cx="2880360" cy="502920"/>
          </a:xfrm>
          <a:prstGeom prst="rect">
            <a:avLst/>
          </a:prstGeom>
          <a:noFill/>
          <a:ln/>
        </p:spPr>
        <p:txBody>
          <a:bodyPr wrap="square" lIns="0" tIns="0" rIns="0" bIns="0" rtlCol="0" anchor="t"/>
          <a:lstStyle/>
          <a:p>
            <a:pPr indent="0" marL="0">
              <a:buNone/>
            </a:pPr>
            <a:r>
              <a:rPr lang="en-US" sz="1300" dirty="0">
                <a:solidFill>
                  <a:schemeClr val="tx1"/>
                </a:solidFill>
              </a:rPr>
              <a:t>bao bởi FACE đáy, FACE nắp và n mặt bên</a:t>
            </a:r>
            <a:endParaRPr lang="en-US" sz="1300" dirty="0"/>
          </a:p>
        </p:txBody>
      </p:sp>
      <p:sp>
        <p:nvSpPr>
          <p:cNvPr id="8" name="Lý do 2"/>
          <p:cNvSpPr/>
          <p:nvPr/>
        </p:nvSpPr>
        <p:spPr>
          <a:xfrm>
            <a:off x="8412480" y="2587752"/>
            <a:ext cx="3246120" cy="1024128"/>
          </a:xfrm>
          <a:prstGeom prst="roundRect">
            <a:avLst>
              <a:gd name="adj" fmla="val 10714"/>
            </a:avLst>
          </a:prstGeom>
          <a:solidFill>
            <a:schemeClr val="bg2"/>
          </a:solidFill>
          <a:ln w="12700">
            <a:solidFill>
              <a:schemeClr val="bg2"/>
            </a:solidFill>
            <a:prstDash val="solid"/>
          </a:ln>
        </p:spPr>
      </p:sp>
      <p:sp>
        <p:nvSpPr>
          <p:cNvPr id="9" name="Text 5"/>
          <p:cNvSpPr txBox="1"/>
          <p:nvPr/>
        </p:nvSpPr>
        <p:spPr>
          <a:xfrm>
            <a:off x="8613648" y="2706624"/>
            <a:ext cx="2880360" cy="347472"/>
          </a:xfrm>
          <a:prstGeom prst="rect">
            <a:avLst/>
          </a:prstGeom>
          <a:noFill/>
          <a:ln/>
        </p:spPr>
        <p:txBody>
          <a:bodyPr wrap="square" lIns="0" tIns="0" rIns="0" bIns="0" rtlCol="0" anchor="t"/>
          <a:lstStyle/>
          <a:p>
            <a:pPr indent="0" marL="0">
              <a:buNone/>
            </a:pPr>
            <a:r>
              <a:rPr lang="en-US" sz="1600" b="1" dirty="0">
                <a:solidFill>
                  <a:schemeClr val="tx2"/>
                </a:solidFill>
              </a:rPr>
              <a:t>Chỉ NODE + FACE</a:t>
            </a:r>
            <a:endParaRPr lang="en-US" sz="1600" dirty="0"/>
          </a:p>
        </p:txBody>
      </p:sp>
      <p:sp>
        <p:nvSpPr>
          <p:cNvPr id="10" name="Text 6"/>
          <p:cNvSpPr txBox="1"/>
          <p:nvPr/>
        </p:nvSpPr>
        <p:spPr>
          <a:xfrm>
            <a:off x="8613648" y="3063240"/>
            <a:ext cx="2880360" cy="502920"/>
          </a:xfrm>
          <a:prstGeom prst="rect">
            <a:avLst/>
          </a:prstGeom>
          <a:noFill/>
          <a:ln/>
        </p:spPr>
        <p:txBody>
          <a:bodyPr wrap="square" lIns="0" tIns="0" rIns="0" bIns="0" rtlCol="0" anchor="t"/>
          <a:lstStyle/>
          <a:p>
            <a:pPr indent="0" marL="0">
              <a:buNone/>
            </a:pPr>
            <a:r>
              <a:rPr lang="en-US" sz="1300" dirty="0">
                <a:solidFill>
                  <a:schemeClr val="tx1"/>
                </a:solidFill>
              </a:rPr>
              <a:t>không cần ARC, EDGE như 3D-FDS</a:t>
            </a:r>
            <a:endParaRPr lang="en-US" sz="1300" dirty="0"/>
          </a:p>
        </p:txBody>
      </p:sp>
      <p:sp>
        <p:nvSpPr>
          <p:cNvPr id="11" name="Lý do 3"/>
          <p:cNvSpPr/>
          <p:nvPr/>
        </p:nvSpPr>
        <p:spPr>
          <a:xfrm>
            <a:off x="8412480" y="3758184"/>
            <a:ext cx="3246120" cy="1024128"/>
          </a:xfrm>
          <a:prstGeom prst="roundRect">
            <a:avLst>
              <a:gd name="adj" fmla="val 10714"/>
            </a:avLst>
          </a:prstGeom>
          <a:solidFill>
            <a:schemeClr val="bg2"/>
          </a:solidFill>
          <a:ln w="12700">
            <a:solidFill>
              <a:schemeClr val="bg2"/>
            </a:solidFill>
            <a:prstDash val="solid"/>
          </a:ln>
        </p:spPr>
      </p:sp>
      <p:sp>
        <p:nvSpPr>
          <p:cNvPr id="12" name="Text 8"/>
          <p:cNvSpPr txBox="1"/>
          <p:nvPr/>
        </p:nvSpPr>
        <p:spPr>
          <a:xfrm>
            <a:off x="8613648" y="3877056"/>
            <a:ext cx="2880360" cy="347472"/>
          </a:xfrm>
          <a:prstGeom prst="rect">
            <a:avLst/>
          </a:prstGeom>
          <a:noFill/>
          <a:ln/>
        </p:spPr>
        <p:txBody>
          <a:bodyPr wrap="square" lIns="0" tIns="0" rIns="0" bIns="0" rtlCol="0" anchor="t"/>
          <a:lstStyle/>
          <a:p>
            <a:pPr indent="0" marL="0">
              <a:buNone/>
            </a:pPr>
            <a:r>
              <a:rPr lang="en-US" sz="1600" b="1" dirty="0">
                <a:solidFill>
                  <a:schemeClr val="tx2"/>
                </a:solidFill>
              </a:rPr>
              <a:t>Cho web 3D</a:t>
            </a:r>
            <a:endParaRPr lang="en-US" sz="1600" dirty="0"/>
          </a:p>
        </p:txBody>
      </p:sp>
      <p:sp>
        <p:nvSpPr>
          <p:cNvPr id="13" name="Text 9"/>
          <p:cNvSpPr txBox="1"/>
          <p:nvPr/>
        </p:nvSpPr>
        <p:spPr>
          <a:xfrm>
            <a:off x="8613648" y="4233672"/>
            <a:ext cx="2880360" cy="502920"/>
          </a:xfrm>
          <a:prstGeom prst="rect">
            <a:avLst/>
          </a:prstGeom>
          <a:noFill/>
          <a:ln/>
        </p:spPr>
        <p:txBody>
          <a:bodyPr wrap="square" lIns="0" tIns="0" rIns="0" bIns="0" rtlCol="0" anchor="t"/>
          <a:lstStyle/>
          <a:p>
            <a:pPr indent="0" marL="0">
              <a:buNone/>
            </a:pPr>
            <a:r>
              <a:rPr lang="en-US" sz="1300" dirty="0">
                <a:solidFill>
                  <a:schemeClr val="tx1"/>
                </a:solidFill>
              </a:rPr>
              <a:t>đúng môi trường ArcGIS JS trên trình duyệt</a:t>
            </a:r>
            <a:endParaRPr lang="en-US" sz="1300" dirty="0"/>
          </a:p>
        </p:txBody>
      </p:sp>
      <p:sp>
        <p:nvSpPr>
          <p:cNvPr id="14" name="Lý do 4"/>
          <p:cNvSpPr/>
          <p:nvPr/>
        </p:nvSpPr>
        <p:spPr>
          <a:xfrm>
            <a:off x="8412480" y="4928616"/>
            <a:ext cx="3246120" cy="1024128"/>
          </a:xfrm>
          <a:prstGeom prst="roundRect">
            <a:avLst>
              <a:gd name="adj" fmla="val 10714"/>
            </a:avLst>
          </a:prstGeom>
          <a:solidFill>
            <a:schemeClr val="bg2"/>
          </a:solidFill>
          <a:ln w="12700">
            <a:solidFill>
              <a:schemeClr val="bg2"/>
            </a:solidFill>
            <a:prstDash val="solid"/>
          </a:ln>
        </p:spPr>
      </p:sp>
      <p:sp>
        <p:nvSpPr>
          <p:cNvPr id="15" name="Text 11"/>
          <p:cNvSpPr txBox="1"/>
          <p:nvPr/>
        </p:nvSpPr>
        <p:spPr>
          <a:xfrm>
            <a:off x="8613648" y="5047488"/>
            <a:ext cx="2880360" cy="347472"/>
          </a:xfrm>
          <a:prstGeom prst="rect">
            <a:avLst/>
          </a:prstGeom>
          <a:noFill/>
          <a:ln/>
        </p:spPr>
        <p:txBody>
          <a:bodyPr wrap="square" lIns="0" tIns="0" rIns="0" bIns="0" rtlCol="0" anchor="t"/>
          <a:lstStyle/>
          <a:p>
            <a:pPr indent="0" marL="0">
              <a:buNone/>
            </a:pPr>
            <a:r>
              <a:rPr lang="en-US" sz="1600" b="1" dirty="0">
                <a:solidFill>
                  <a:schemeClr val="accent1"/>
                </a:solidFill>
              </a:rPr>
              <a:t>Điều chỉnh</a:t>
            </a:r>
            <a:endParaRPr lang="en-US" sz="1600" dirty="0"/>
          </a:p>
        </p:txBody>
      </p:sp>
      <p:sp>
        <p:nvSpPr>
          <p:cNvPr id="16" name="Text 12"/>
          <p:cNvSpPr txBox="1"/>
          <p:nvPr/>
        </p:nvSpPr>
        <p:spPr>
          <a:xfrm>
            <a:off x="8613648" y="5404104"/>
            <a:ext cx="2880360" cy="502920"/>
          </a:xfrm>
          <a:prstGeom prst="rect">
            <a:avLst/>
          </a:prstGeom>
          <a:noFill/>
          <a:ln/>
        </p:spPr>
        <p:txBody>
          <a:bodyPr wrap="square" lIns="0" tIns="0" rIns="0" bIns="0" rtlCol="0" anchor="t"/>
          <a:lstStyle/>
          <a:p>
            <a:pPr indent="0" marL="0">
              <a:buNone/>
            </a:pPr>
            <a:r>
              <a:rPr lang="en-US" sz="1300" dirty="0">
                <a:solidFill>
                  <a:schemeClr val="tx1"/>
                </a:solidFill>
              </a:rPr>
              <a:t>nới ràng buộc FACE lồi cho đáy và nắp (footprint thật lõm)</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94415" cy="777240"/>
          </a:xfrm>
          <a:prstGeom prst="rect">
            <a:avLst/>
          </a:prstGeom>
          <a:noFill/>
          <a:ln/>
        </p:spPr>
        <p:txBody>
          <a:bodyPr wrap="square"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Dung lượng: lưu gọn, trải ra SSM khi cần</a:t>
            </a:r>
            <a:endParaRPr lang="en-US" sz="3200" dirty="0"/>
          </a:p>
        </p:txBody>
      </p:sp>
      <p:sp>
        <p:nvSpPr>
          <p:cNvPr id="4" name="Số liệu 1"/>
          <p:cNvSpPr/>
          <p:nvPr/>
        </p:nvSpPr>
        <p:spPr>
          <a:xfrm>
            <a:off x="548640" y="1554480"/>
            <a:ext cx="3520440" cy="3017520"/>
          </a:xfrm>
          <a:prstGeom prst="roundRect">
            <a:avLst>
              <a:gd name="adj" fmla="val 3636"/>
            </a:avLst>
          </a:prstGeom>
          <a:solidFill>
            <a:schemeClr val="bg2"/>
          </a:solidFill>
          <a:ln w="12700">
            <a:solidFill>
              <a:schemeClr val="bg2"/>
            </a:solidFill>
            <a:prstDash val="solid"/>
          </a:ln>
        </p:spPr>
      </p:sp>
      <p:sp>
        <p:nvSpPr>
          <p:cNvPr id="5" name="Text 2"/>
          <p:cNvSpPr txBox="1"/>
          <p:nvPr/>
        </p:nvSpPr>
        <p:spPr>
          <a:xfrm>
            <a:off x="822960" y="1783080"/>
            <a:ext cx="2971800" cy="1097280"/>
          </a:xfrm>
          <a:prstGeom prst="rect">
            <a:avLst/>
          </a:prstGeom>
          <a:noFill/>
          <a:ln/>
        </p:spPr>
        <p:txBody>
          <a:bodyPr wrap="square" lIns="0" tIns="0" rIns="0" bIns="0" rtlCol="0" anchor="t"/>
          <a:lstStyle/>
          <a:p>
            <a:pPr indent="0" marL="0">
              <a:buNone/>
            </a:pPr>
            <a:r>
              <a:rPr lang="en-US" sz="6000" b="1" dirty="0">
                <a:solidFill>
                  <a:schemeClr val="accent5"/>
                </a:solidFill>
                <a:latin typeface="Cambria" pitchFamily="34" charset="0"/>
                <a:ea typeface="Cambria" pitchFamily="34" charset="-122"/>
                <a:cs typeface="Cambria" pitchFamily="34" charset="-120"/>
              </a:rPr>
              <a:t>564 B</a:t>
            </a:r>
            <a:endParaRPr lang="en-US" sz="6000" dirty="0"/>
          </a:p>
        </p:txBody>
      </p:sp>
      <p:sp>
        <p:nvSpPr>
          <p:cNvPr id="6" name="Text 3"/>
          <p:cNvSpPr txBox="1"/>
          <p:nvPr/>
        </p:nvSpPr>
        <p:spPr>
          <a:xfrm>
            <a:off x="822960" y="2971800"/>
            <a:ext cx="2971800" cy="731520"/>
          </a:xfrm>
          <a:prstGeom prst="rect">
            <a:avLst/>
          </a:prstGeom>
          <a:noFill/>
          <a:ln/>
        </p:spPr>
        <p:txBody>
          <a:bodyPr wrap="square" lIns="0" tIns="0" rIns="0" bIns="0" rtlCol="0" anchor="t"/>
          <a:lstStyle/>
          <a:p>
            <a:pPr indent="0" marL="0">
              <a:buNone/>
            </a:pPr>
            <a:r>
              <a:rPr lang="en-US" sz="1600" b="1" dirty="0">
                <a:solidFill>
                  <a:schemeClr val="tx2"/>
                </a:solidFill>
              </a:rPr>
              <a:t>Hình hộp chữ nhật lưu theo SSM</a:t>
            </a:r>
            <a:endParaRPr lang="en-US" sz="1600" dirty="0"/>
          </a:p>
        </p:txBody>
      </p:sp>
      <p:sp>
        <p:nvSpPr>
          <p:cNvPr id="7" name="Text 4"/>
          <p:cNvSpPr txBox="1"/>
          <p:nvPr/>
        </p:nvSpPr>
        <p:spPr>
          <a:xfrm>
            <a:off x="822960" y="3794760"/>
            <a:ext cx="2971800" cy="548640"/>
          </a:xfrm>
          <a:prstGeom prst="rect">
            <a:avLst/>
          </a:prstGeom>
          <a:noFill/>
          <a:ln/>
        </p:spPr>
        <p:txBody>
          <a:bodyPr wrap="square" lIns="0" tIns="0" rIns="0" bIns="0" rtlCol="0" anchor="t"/>
          <a:lstStyle/>
          <a:p>
            <a:pPr indent="0" marL="0">
              <a:buNone/>
            </a:pPr>
            <a:r>
              <a:rPr lang="en-US" sz="1400" dirty="0">
                <a:solidFill>
                  <a:srgbClr val="57606A"/>
                </a:solidFill>
              </a:rPr>
              <a:t>8 NODE · 6 FACE · 24 NODE ON FACE</a:t>
            </a:r>
            <a:endParaRPr lang="en-US" sz="1400" dirty="0"/>
          </a:p>
        </p:txBody>
      </p:sp>
      <p:sp>
        <p:nvSpPr>
          <p:cNvPr id="8" name="Số liệu 2"/>
          <p:cNvSpPr/>
          <p:nvPr/>
        </p:nvSpPr>
        <p:spPr>
          <a:xfrm>
            <a:off x="4315968" y="1554480"/>
            <a:ext cx="3520440" cy="3017520"/>
          </a:xfrm>
          <a:prstGeom prst="roundRect">
            <a:avLst>
              <a:gd name="adj" fmla="val 3636"/>
            </a:avLst>
          </a:prstGeom>
          <a:solidFill>
            <a:schemeClr val="bg2"/>
          </a:solidFill>
          <a:ln w="12700">
            <a:solidFill>
              <a:schemeClr val="bg2"/>
            </a:solidFill>
            <a:prstDash val="solid"/>
          </a:ln>
        </p:spPr>
      </p:sp>
      <p:sp>
        <p:nvSpPr>
          <p:cNvPr id="9" name="Text 6"/>
          <p:cNvSpPr txBox="1"/>
          <p:nvPr/>
        </p:nvSpPr>
        <p:spPr>
          <a:xfrm>
            <a:off x="4590288" y="1783080"/>
            <a:ext cx="2971800" cy="1097280"/>
          </a:xfrm>
          <a:prstGeom prst="rect">
            <a:avLst/>
          </a:prstGeom>
          <a:noFill/>
          <a:ln/>
        </p:spPr>
        <p:txBody>
          <a:bodyPr wrap="square" lIns="0" tIns="0" rIns="0" bIns="0" rtlCol="0" anchor="t"/>
          <a:lstStyle/>
          <a:p>
            <a:pPr indent="0" marL="0">
              <a:buNone/>
            </a:pPr>
            <a:r>
              <a:rPr lang="en-US" sz="6000" b="1" dirty="0">
                <a:solidFill>
                  <a:schemeClr val="accent6"/>
                </a:solidFill>
                <a:latin typeface="Cambria" pitchFamily="34" charset="0"/>
                <a:ea typeface="Cambria" pitchFamily="34" charset="-122"/>
                <a:cs typeface="Cambria" pitchFamily="34" charset="-120"/>
              </a:rPr>
              <a:t>2.468 B</a:t>
            </a:r>
            <a:endParaRPr lang="en-US" sz="6000" dirty="0"/>
          </a:p>
        </p:txBody>
      </p:sp>
      <p:sp>
        <p:nvSpPr>
          <p:cNvPr id="10" name="Text 7"/>
          <p:cNvSpPr txBox="1"/>
          <p:nvPr/>
        </p:nvSpPr>
        <p:spPr>
          <a:xfrm>
            <a:off x="4590288" y="2971800"/>
            <a:ext cx="2971800" cy="731520"/>
          </a:xfrm>
          <a:prstGeom prst="rect">
            <a:avLst/>
          </a:prstGeom>
          <a:noFill/>
          <a:ln/>
        </p:spPr>
        <p:txBody>
          <a:bodyPr wrap="square" lIns="0" tIns="0" rIns="0" bIns="0" rtlCol="0" anchor="t"/>
          <a:lstStyle/>
          <a:p>
            <a:pPr indent="0" marL="0">
              <a:buNone/>
            </a:pPr>
            <a:r>
              <a:rPr lang="en-US" sz="1600" b="1" dirty="0">
                <a:solidFill>
                  <a:schemeClr val="tx2"/>
                </a:solidFill>
              </a:rPr>
              <a:t>Khối Alpha Tech (đáy 18 đỉnh) theo SSM</a:t>
            </a:r>
            <a:endParaRPr lang="en-US" sz="1600" dirty="0"/>
          </a:p>
        </p:txBody>
      </p:sp>
      <p:sp>
        <p:nvSpPr>
          <p:cNvPr id="11" name="Text 8"/>
          <p:cNvSpPr txBox="1"/>
          <p:nvPr/>
        </p:nvSpPr>
        <p:spPr>
          <a:xfrm>
            <a:off x="4590288" y="3794760"/>
            <a:ext cx="2971800" cy="548640"/>
          </a:xfrm>
          <a:prstGeom prst="rect">
            <a:avLst/>
          </a:prstGeom>
          <a:noFill/>
          <a:ln/>
        </p:spPr>
        <p:txBody>
          <a:bodyPr wrap="square" lIns="0" tIns="0" rIns="0" bIns="0" rtlCol="0" anchor="t"/>
          <a:lstStyle/>
          <a:p>
            <a:pPr indent="0" marL="0">
              <a:buNone/>
            </a:pPr>
            <a:r>
              <a:rPr lang="en-US" sz="1400" dirty="0">
                <a:solidFill>
                  <a:srgbClr val="57606A"/>
                </a:solidFill>
              </a:rPr>
              <a:t>36 NODE · 20 FACE · 108 NODE ON FACE</a:t>
            </a:r>
            <a:endParaRPr lang="en-US" sz="1400" dirty="0"/>
          </a:p>
        </p:txBody>
      </p:sp>
      <p:sp>
        <p:nvSpPr>
          <p:cNvPr id="12" name="Số liệu 3"/>
          <p:cNvSpPr/>
          <p:nvPr/>
        </p:nvSpPr>
        <p:spPr>
          <a:xfrm>
            <a:off x="8083296" y="1554480"/>
            <a:ext cx="3520440" cy="3017520"/>
          </a:xfrm>
          <a:prstGeom prst="roundRect">
            <a:avLst>
              <a:gd name="adj" fmla="val 3636"/>
            </a:avLst>
          </a:prstGeom>
          <a:solidFill>
            <a:schemeClr val="bg2"/>
          </a:solidFill>
          <a:ln w="12700">
            <a:solidFill>
              <a:schemeClr val="bg2"/>
            </a:solidFill>
            <a:prstDash val="solid"/>
          </a:ln>
        </p:spPr>
      </p:sp>
      <p:sp>
        <p:nvSpPr>
          <p:cNvPr id="13" name="Text 10"/>
          <p:cNvSpPr txBox="1"/>
          <p:nvPr/>
        </p:nvSpPr>
        <p:spPr>
          <a:xfrm>
            <a:off x="8357616" y="1783080"/>
            <a:ext cx="2971800" cy="1097280"/>
          </a:xfrm>
          <a:prstGeom prst="rect">
            <a:avLst/>
          </a:prstGeom>
          <a:noFill/>
          <a:ln/>
        </p:spPr>
        <p:txBody>
          <a:bodyPr wrap="square" lIns="0" tIns="0" rIns="0" bIns="0" rtlCol="0" anchor="t"/>
          <a:lstStyle/>
          <a:p>
            <a:pPr indent="0" marL="0">
              <a:buNone/>
            </a:pPr>
            <a:r>
              <a:rPr lang="en-US" sz="6000" b="1" dirty="0">
                <a:solidFill>
                  <a:schemeClr val="accent1"/>
                </a:solidFill>
                <a:latin typeface="Cambria" pitchFamily="34" charset="0"/>
                <a:ea typeface="Cambria" pitchFamily="34" charset="-122"/>
                <a:cs typeface="Cambria" pitchFamily="34" charset="-120"/>
              </a:rPr>
              <a:t>≈ 340 B</a:t>
            </a:r>
            <a:endParaRPr lang="en-US" sz="6000" dirty="0"/>
          </a:p>
        </p:txBody>
      </p:sp>
      <p:sp>
        <p:nvSpPr>
          <p:cNvPr id="14" name="Text 11"/>
          <p:cNvSpPr txBox="1"/>
          <p:nvPr/>
        </p:nvSpPr>
        <p:spPr>
          <a:xfrm>
            <a:off x="8357616" y="2971800"/>
            <a:ext cx="2971800" cy="731520"/>
          </a:xfrm>
          <a:prstGeom prst="rect">
            <a:avLst/>
          </a:prstGeom>
          <a:noFill/>
          <a:ln/>
        </p:spPr>
        <p:txBody>
          <a:bodyPr wrap="square" lIns="0" tIns="0" rIns="0" bIns="0" rtlCol="0" anchor="t"/>
          <a:lstStyle/>
          <a:p>
            <a:pPr indent="0" marL="0">
              <a:buNone/>
            </a:pPr>
            <a:r>
              <a:rPr lang="en-US" sz="1600" b="1" dirty="0">
                <a:solidFill>
                  <a:schemeClr val="tx2"/>
                </a:solidFill>
              </a:rPr>
              <a:t>Khối MAP lưu gọn (P, z_min, z_max, δxy, δz)</a:t>
            </a:r>
            <a:endParaRPr lang="en-US" sz="1600" dirty="0"/>
          </a:p>
        </p:txBody>
      </p:sp>
      <p:sp>
        <p:nvSpPr>
          <p:cNvPr id="15" name="Text 12"/>
          <p:cNvSpPr txBox="1"/>
          <p:nvPr/>
        </p:nvSpPr>
        <p:spPr>
          <a:xfrm>
            <a:off x="8357616" y="3794760"/>
            <a:ext cx="2971800" cy="548640"/>
          </a:xfrm>
          <a:prstGeom prst="rect">
            <a:avLst/>
          </a:prstGeom>
          <a:noFill/>
          <a:ln/>
        </p:spPr>
        <p:txBody>
          <a:bodyPr wrap="square" lIns="0" tIns="0" rIns="0" bIns="0" rtlCol="0" anchor="t"/>
          <a:lstStyle/>
          <a:p>
            <a:pPr indent="0" marL="0">
              <a:buNone/>
            </a:pPr>
            <a:r>
              <a:rPr lang="en-US" sz="1400" dirty="0">
                <a:solidFill>
                  <a:srgbClr val="57606A"/>
                </a:solidFill>
              </a:rPr>
              <a:t>nhỏ hơn khoảng 7 lần</a:t>
            </a:r>
            <a:endParaRPr lang="en-US" sz="1400" dirty="0"/>
          </a:p>
        </p:txBody>
      </p:sp>
      <p:sp>
        <p:nvSpPr>
          <p:cNvPr id="16" name="Text 13"/>
          <p:cNvSpPr txBox="1"/>
          <p:nvPr/>
        </p:nvSpPr>
        <p:spPr>
          <a:xfrm>
            <a:off x="548640" y="4892040"/>
            <a:ext cx="11064240" cy="1005840"/>
          </a:xfrm>
          <a:prstGeom prst="rect">
            <a:avLst/>
          </a:prstGeom>
          <a:noFill/>
          <a:ln/>
        </p:spPr>
        <p:txBody>
          <a:bodyPr wrap="square" lIns="0" tIns="0" rIns="0" bIns="0" rtlCol="0" anchor="t"/>
          <a:lstStyle/>
          <a:p>
            <a:pPr indent="0" marL="0">
              <a:buNone/>
            </a:pPr>
            <a:r>
              <a:rPr lang="en-US" sz="1500" b="1" dirty="0">
                <a:solidFill>
                  <a:schemeClr val="tx1"/>
                </a:solidFill>
              </a:rPr>
              <a:t>Cách tính theo tài liệu ví dụ môn học: </a:t>
            </a:r>
            <a:pPr indent="0" marL="0">
              <a:buNone/>
            </a:pPr>
            <a:r>
              <a:rPr lang="en-US" sz="1500" dirty="0">
                <a:solidFill>
                  <a:schemeClr val="tx1"/>
                </a:solidFill>
              </a:rPr>
              <a:t>mã 4 byte, toạ độ 8 byte — NODE(#NID, X, Y, Z) 28 B · FACE(#FID, BID) 8 B · NODE_ON_FACE(#FID, #NID, thứ tự) 12 B. </a:t>
            </a:r>
            <a:pPr indent="0" marL="0">
              <a:buNone/>
            </a:pPr>
            <a:r>
              <a:rPr lang="en-US" sz="1500" i="1" dirty="0">
                <a:solidFill>
                  <a:schemeClr val="tx1"/>
                </a:solidFill>
              </a:rPr>
              <a:t>Số liệu khối Alpha lấy trực tiếp từ hàm ssm_cua_khoi() trong CSDL.</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94415" cy="777240"/>
          </a:xfrm>
          <a:prstGeom prst="rect">
            <a:avLst/>
          </a:prstGeom>
          <a:noFill/>
          <a:ln/>
        </p:spPr>
        <p:txBody>
          <a:bodyPr wrap="square"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Mô hình MAP — khối chấm công phân tầng</a:t>
            </a:r>
            <a:endParaRPr lang="en-US" sz="3200" dirty="0"/>
          </a:p>
        </p:txBody>
      </p:sp>
      <p:sp>
        <p:nvSpPr>
          <p:cNvPr id="4" name="Định nghĩa MAP"/>
          <p:cNvSpPr/>
          <p:nvPr/>
        </p:nvSpPr>
        <p:spPr>
          <a:xfrm>
            <a:off x="548640" y="1371600"/>
            <a:ext cx="5760720" cy="4663440"/>
          </a:xfrm>
          <a:prstGeom prst="roundRect">
            <a:avLst>
              <a:gd name="adj" fmla="val 2353"/>
            </a:avLst>
          </a:prstGeom>
          <a:solidFill>
            <a:schemeClr val="tx2"/>
          </a:solidFill>
          <a:ln w="12700">
            <a:solidFill>
              <a:schemeClr val="tx2"/>
            </a:solidFill>
            <a:prstDash val="solid"/>
          </a:ln>
        </p:spPr>
      </p:sp>
      <p:sp>
        <p:nvSpPr>
          <p:cNvPr id="5" name="Text 2"/>
          <p:cNvSpPr txBox="1"/>
          <p:nvPr/>
        </p:nvSpPr>
        <p:spPr>
          <a:xfrm>
            <a:off x="868680" y="1645920"/>
            <a:ext cx="5303520" cy="54864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MAP = ( P, z_min, z_max, δxy, δz )</a:t>
            </a:r>
            <a:endParaRPr lang="en-US" sz="2400" dirty="0"/>
          </a:p>
        </p:txBody>
      </p:sp>
      <p:sp>
        <p:nvSpPr>
          <p:cNvPr id="6" name="Text 3"/>
          <p:cNvSpPr txBox="1"/>
          <p:nvPr/>
        </p:nvSpPr>
        <p:spPr>
          <a:xfrm>
            <a:off x="868680" y="2377440"/>
            <a:ext cx="5303520" cy="731520"/>
          </a:xfrm>
          <a:prstGeom prst="rect">
            <a:avLst/>
          </a:prstGeom>
          <a:noFill/>
          <a:ln/>
        </p:spPr>
        <p:txBody>
          <a:bodyPr wrap="square" lIns="0" tIns="0" rIns="0" bIns="0" rtlCol="0" anchor="t"/>
          <a:lstStyle/>
          <a:p>
            <a:pPr indent="0" marL="0">
              <a:buNone/>
            </a:pPr>
            <a:r>
              <a:rPr lang="en-US" sz="1600" dirty="0">
                <a:solidFill>
                  <a:srgbClr val="F9C784"/>
                </a:solidFill>
                <a:latin typeface="Courier New" pitchFamily="34" charset="0"/>
                <a:ea typeface="Courier New" pitchFamily="34" charset="-122"/>
                <a:cs typeface="Courier New" pitchFamily="34" charset="-120"/>
              </a:rPr>
              <a:t>z_min = z_nền + (tầng_đầu − 1) × h_tầng</a:t>
            </a:r>
            <a:endParaRPr lang="en-US" sz="1600" dirty="0"/>
          </a:p>
          <a:p>
            <a:pPr indent="0" marL="0">
              <a:buNone/>
            </a:pPr>
            <a:r>
              <a:rPr lang="en-US" sz="1600" dirty="0">
                <a:solidFill>
                  <a:srgbClr val="F9C784"/>
                </a:solidFill>
                <a:latin typeface="Courier New" pitchFamily="34" charset="0"/>
                <a:ea typeface="Courier New" pitchFamily="34" charset="-122"/>
                <a:cs typeface="Courier New" pitchFamily="34" charset="-120"/>
              </a:rPr>
              <a:t>z_max = z_nền + tầng_cuối × h_tầng</a:t>
            </a:r>
            <a:endParaRPr lang="en-US" sz="1600" dirty="0"/>
          </a:p>
        </p:txBody>
      </p:sp>
      <p:sp>
        <p:nvSpPr>
          <p:cNvPr id="7" name="Text 4"/>
          <p:cNvSpPr txBox="1"/>
          <p:nvPr/>
        </p:nvSpPr>
        <p:spPr>
          <a:xfrm>
            <a:off x="868680" y="3337560"/>
            <a:ext cx="5303520" cy="2468880"/>
          </a:xfrm>
          <a:prstGeom prst="rect">
            <a:avLst/>
          </a:prstGeom>
          <a:noFill/>
          <a:ln/>
        </p:spPr>
        <p:txBody>
          <a:bodyPr wrap="square" lIns="0" tIns="0" rIns="0" bIns="0" rtlCol="0" anchor="t"/>
          <a:lstStyle/>
          <a:p>
            <a:pPr indent="0" marL="0">
              <a:spcAft>
                <a:spcPts val="600"/>
              </a:spcAft>
              <a:buNone/>
            </a:pPr>
            <a:r>
              <a:rPr lang="en-US" sz="1700" b="1" dirty="0">
                <a:solidFill>
                  <a:schemeClr val="bg1"/>
                </a:solidFill>
              </a:rPr>
              <a:t>Kiểm tra hai bước:</a:t>
            </a:r>
            <a:endParaRPr lang="en-US" sz="1700" dirty="0"/>
          </a:p>
          <a:p>
            <a:pPr indent="0" marL="0">
              <a:spcAft>
                <a:spcPts val="600"/>
              </a:spcAft>
              <a:buNone/>
            </a:pPr>
            <a:r>
              <a:rPr lang="en-US" sz="1700" dirty="0">
                <a:solidFill>
                  <a:schemeClr val="bg1"/>
                </a:solidFill>
              </a:rPr>
              <a:t>1.  Q.xy ∈ buffer(P, δxy)</a:t>
            </a:r>
            <a:endParaRPr lang="en-US" sz="1700" dirty="0"/>
          </a:p>
          <a:p>
            <a:pPr indent="0" marL="0">
              <a:spcAft>
                <a:spcPts val="600"/>
              </a:spcAft>
              <a:buNone/>
            </a:pPr>
            <a:r>
              <a:rPr lang="en-US" sz="1700" dirty="0">
                <a:solidFill>
                  <a:schemeClr val="bg1"/>
                </a:solidFill>
              </a:rPr>
              <a:t>2.  z_min − δz ≤ Q.z ≤ z_max + δz</a:t>
            </a:r>
            <a:endParaRPr lang="en-US" sz="1700" dirty="0"/>
          </a:p>
          <a:p>
            <a:pPr indent="0" marL="0">
              <a:spcAft>
                <a:spcPts val="600"/>
              </a:spcAft>
              <a:buNone/>
            </a:pPr>
            <a:r>
              <a:rPr lang="en-US" sz="1700" i="1" dirty="0">
                <a:solidFill>
                  <a:srgbClr val="C9D3E0"/>
                </a:solidFill>
              </a:rPr>
              <a:t>z suy ra bằng trigger, không nhập tay</a:t>
            </a:r>
            <a:endParaRPr lang="en-US" sz="1700" dirty="0"/>
          </a:p>
        </p:txBody>
      </p:sp>
      <p:sp>
        <p:nvSpPr>
          <p:cNvPr id="8" name="Trạng thái HỢP LỆ"/>
          <p:cNvSpPr/>
          <p:nvPr/>
        </p:nvSpPr>
        <p:spPr>
          <a:xfrm>
            <a:off x="6583680" y="1371600"/>
            <a:ext cx="5074920" cy="1417320"/>
          </a:xfrm>
          <a:prstGeom prst="roundRect">
            <a:avLst>
              <a:gd name="adj" fmla="val 7742"/>
            </a:avLst>
          </a:prstGeom>
          <a:solidFill>
            <a:schemeClr val="bg2"/>
          </a:solidFill>
          <a:ln w="12700">
            <a:solidFill>
              <a:schemeClr val="bg2"/>
            </a:solidFill>
            <a:prstDash val="solid"/>
          </a:ln>
        </p:spPr>
      </p:sp>
      <p:sp>
        <p:nvSpPr>
          <p:cNvPr id="9" name="Nhãn HỢP LỆ"/>
          <p:cNvSpPr/>
          <p:nvPr/>
        </p:nvSpPr>
        <p:spPr>
          <a:xfrm>
            <a:off x="6812280" y="1755648"/>
            <a:ext cx="1737360" cy="640080"/>
          </a:xfrm>
          <a:prstGeom prst="roundRect">
            <a:avLst>
              <a:gd name="adj" fmla="val 50000"/>
            </a:avLst>
          </a:prstGeom>
          <a:solidFill>
            <a:schemeClr val="accent2"/>
          </a:solidFill>
          <a:ln w="12700">
            <a:solidFill>
              <a:schemeClr val="accent2"/>
            </a:solidFill>
            <a:prstDash val="solid"/>
          </a:ln>
        </p:spPr>
      </p:sp>
      <p:sp>
        <p:nvSpPr>
          <p:cNvPr id="10" name="Text 7"/>
          <p:cNvSpPr txBox="1"/>
          <p:nvPr/>
        </p:nvSpPr>
        <p:spPr>
          <a:xfrm>
            <a:off x="6812280" y="1755648"/>
            <a:ext cx="1737360" cy="640080"/>
          </a:xfrm>
          <a:prstGeom prst="rect">
            <a:avLst/>
          </a:prstGeom>
          <a:noFill/>
          <a:ln/>
        </p:spPr>
        <p:txBody>
          <a:bodyPr wrap="square" lIns="0" tIns="0" rIns="0" bIns="0" rtlCol="0" anchor="ctr"/>
          <a:lstStyle/>
          <a:p>
            <a:pPr algn="ctr" indent="0" marL="0">
              <a:buNone/>
            </a:pPr>
            <a:r>
              <a:rPr lang="en-US" sz="1600" b="1" dirty="0">
                <a:solidFill>
                  <a:schemeClr val="bg1"/>
                </a:solidFill>
              </a:rPr>
              <a:t>HỢP LỆ</a:t>
            </a:r>
            <a:endParaRPr lang="en-US" sz="1600" dirty="0"/>
          </a:p>
        </p:txBody>
      </p:sp>
      <p:sp>
        <p:nvSpPr>
          <p:cNvPr id="11" name="Text 8"/>
          <p:cNvSpPr txBox="1"/>
          <p:nvPr/>
        </p:nvSpPr>
        <p:spPr>
          <a:xfrm>
            <a:off x="8732520" y="1536192"/>
            <a:ext cx="2834640" cy="566928"/>
          </a:xfrm>
          <a:prstGeom prst="rect">
            <a:avLst/>
          </a:prstGeom>
          <a:noFill/>
          <a:ln/>
        </p:spPr>
        <p:txBody>
          <a:bodyPr wrap="square" lIns="0" tIns="0" rIns="0" bIns="0" rtlCol="0" anchor="b"/>
          <a:lstStyle/>
          <a:p>
            <a:pPr indent="0" marL="0">
              <a:buNone/>
            </a:pPr>
            <a:r>
              <a:rPr lang="en-US" sz="1500" b="1" dirty="0">
                <a:solidFill>
                  <a:schemeClr val="tx2"/>
                </a:solidFill>
              </a:rPr>
              <a:t>Thoả cả điều kiện ngang và đứng</a:t>
            </a:r>
            <a:endParaRPr lang="en-US" sz="1500" dirty="0"/>
          </a:p>
        </p:txBody>
      </p:sp>
      <p:sp>
        <p:nvSpPr>
          <p:cNvPr id="12" name="Text 9"/>
          <p:cNvSpPr txBox="1"/>
          <p:nvPr/>
        </p:nvSpPr>
        <p:spPr>
          <a:xfrm>
            <a:off x="8732520" y="2176272"/>
            <a:ext cx="2834640" cy="502920"/>
          </a:xfrm>
          <a:prstGeom prst="rect">
            <a:avLst/>
          </a:prstGeom>
          <a:noFill/>
          <a:ln/>
        </p:spPr>
        <p:txBody>
          <a:bodyPr wrap="square" lIns="0" tIns="0" rIns="0" bIns="0" rtlCol="0" anchor="t"/>
          <a:lstStyle/>
          <a:p>
            <a:pPr indent="0" marL="0">
              <a:buNone/>
            </a:pPr>
            <a:r>
              <a:rPr lang="en-US" sz="1350" dirty="0">
                <a:solidFill>
                  <a:schemeClr val="tx1"/>
                </a:solidFill>
              </a:rPr>
              <a:t>Ghi công bình thường</a:t>
            </a:r>
            <a:endParaRPr lang="en-US" sz="1350" dirty="0"/>
          </a:p>
        </p:txBody>
      </p:sp>
      <p:sp>
        <p:nvSpPr>
          <p:cNvPr id="13" name="Trạng thái NGHI NGỜ"/>
          <p:cNvSpPr/>
          <p:nvPr/>
        </p:nvSpPr>
        <p:spPr>
          <a:xfrm>
            <a:off x="6583680" y="2971800"/>
            <a:ext cx="5074920" cy="1417320"/>
          </a:xfrm>
          <a:prstGeom prst="roundRect">
            <a:avLst>
              <a:gd name="adj" fmla="val 7742"/>
            </a:avLst>
          </a:prstGeom>
          <a:solidFill>
            <a:schemeClr val="bg2"/>
          </a:solidFill>
          <a:ln w="12700">
            <a:solidFill>
              <a:schemeClr val="bg2"/>
            </a:solidFill>
            <a:prstDash val="solid"/>
          </a:ln>
        </p:spPr>
      </p:sp>
      <p:sp>
        <p:nvSpPr>
          <p:cNvPr id="14" name="Nhãn NGHI NGỜ"/>
          <p:cNvSpPr/>
          <p:nvPr/>
        </p:nvSpPr>
        <p:spPr>
          <a:xfrm>
            <a:off x="6812280" y="3355848"/>
            <a:ext cx="1737360" cy="640080"/>
          </a:xfrm>
          <a:prstGeom prst="roundRect">
            <a:avLst>
              <a:gd name="adj" fmla="val 50000"/>
            </a:avLst>
          </a:prstGeom>
          <a:solidFill>
            <a:schemeClr val="accent3"/>
          </a:solidFill>
          <a:ln w="12700">
            <a:solidFill>
              <a:schemeClr val="accent3"/>
            </a:solidFill>
            <a:prstDash val="solid"/>
          </a:ln>
        </p:spPr>
      </p:sp>
      <p:sp>
        <p:nvSpPr>
          <p:cNvPr id="15" name="Text 12"/>
          <p:cNvSpPr txBox="1"/>
          <p:nvPr/>
        </p:nvSpPr>
        <p:spPr>
          <a:xfrm>
            <a:off x="6812280" y="3355848"/>
            <a:ext cx="1737360" cy="640080"/>
          </a:xfrm>
          <a:prstGeom prst="rect">
            <a:avLst/>
          </a:prstGeom>
          <a:noFill/>
          <a:ln/>
        </p:spPr>
        <p:txBody>
          <a:bodyPr wrap="square" lIns="0" tIns="0" rIns="0" bIns="0" rtlCol="0" anchor="ctr"/>
          <a:lstStyle/>
          <a:p>
            <a:pPr algn="ctr" indent="0" marL="0">
              <a:buNone/>
            </a:pPr>
            <a:r>
              <a:rPr lang="en-US" sz="1600" b="1" dirty="0">
                <a:solidFill>
                  <a:schemeClr val="bg1"/>
                </a:solidFill>
              </a:rPr>
              <a:t>NGHI NGỜ</a:t>
            </a:r>
            <a:endParaRPr lang="en-US" sz="1600" dirty="0"/>
          </a:p>
        </p:txBody>
      </p:sp>
      <p:sp>
        <p:nvSpPr>
          <p:cNvPr id="16" name="Text 13"/>
          <p:cNvSpPr txBox="1"/>
          <p:nvPr/>
        </p:nvSpPr>
        <p:spPr>
          <a:xfrm>
            <a:off x="8732520" y="3136392"/>
            <a:ext cx="2834640" cy="566928"/>
          </a:xfrm>
          <a:prstGeom prst="rect">
            <a:avLst/>
          </a:prstGeom>
          <a:noFill/>
          <a:ln/>
        </p:spPr>
        <p:txBody>
          <a:bodyPr wrap="square" lIns="0" tIns="0" rIns="0" bIns="0" rtlCol="0" anchor="b"/>
          <a:lstStyle/>
          <a:p>
            <a:pPr indent="0" marL="0">
              <a:buNone/>
            </a:pPr>
            <a:r>
              <a:rPr lang="en-US" sz="1500" b="1" dirty="0">
                <a:solidFill>
                  <a:schemeClr val="tx2"/>
                </a:solidFill>
              </a:rPr>
              <a:t>Đúng toà nhà, sai tầng</a:t>
            </a:r>
            <a:endParaRPr lang="en-US" sz="1500" dirty="0"/>
          </a:p>
        </p:txBody>
      </p:sp>
      <p:sp>
        <p:nvSpPr>
          <p:cNvPr id="17" name="Text 14"/>
          <p:cNvSpPr txBox="1"/>
          <p:nvPr/>
        </p:nvSpPr>
        <p:spPr>
          <a:xfrm>
            <a:off x="8732520" y="3776472"/>
            <a:ext cx="2834640" cy="502920"/>
          </a:xfrm>
          <a:prstGeom prst="rect">
            <a:avLst/>
          </a:prstGeom>
          <a:noFill/>
          <a:ln/>
        </p:spPr>
        <p:txBody>
          <a:bodyPr wrap="square" lIns="0" tIns="0" rIns="0" bIns="0" rtlCol="0" anchor="t"/>
          <a:lstStyle/>
          <a:p>
            <a:pPr indent="0" marL="0">
              <a:buNone/>
            </a:pPr>
            <a:r>
              <a:rPr lang="en-US" sz="1350" dirty="0">
                <a:solidFill>
                  <a:schemeClr val="tx1"/>
                </a:solidFill>
              </a:rPr>
              <a:t>Trạng thái hệ 2D không sinh ra được</a:t>
            </a:r>
            <a:endParaRPr lang="en-US" sz="1350" dirty="0"/>
          </a:p>
        </p:txBody>
      </p:sp>
      <p:sp>
        <p:nvSpPr>
          <p:cNvPr id="18" name="Trạng thái NGOÀI VÙNG"/>
          <p:cNvSpPr/>
          <p:nvPr/>
        </p:nvSpPr>
        <p:spPr>
          <a:xfrm>
            <a:off x="6583680" y="4572000"/>
            <a:ext cx="5074920" cy="1417320"/>
          </a:xfrm>
          <a:prstGeom prst="roundRect">
            <a:avLst>
              <a:gd name="adj" fmla="val 7742"/>
            </a:avLst>
          </a:prstGeom>
          <a:solidFill>
            <a:schemeClr val="bg2"/>
          </a:solidFill>
          <a:ln w="12700">
            <a:solidFill>
              <a:schemeClr val="bg2"/>
            </a:solidFill>
            <a:prstDash val="solid"/>
          </a:ln>
        </p:spPr>
      </p:sp>
      <p:sp>
        <p:nvSpPr>
          <p:cNvPr id="19" name="Nhãn NGOÀI VÙNG"/>
          <p:cNvSpPr/>
          <p:nvPr/>
        </p:nvSpPr>
        <p:spPr>
          <a:xfrm>
            <a:off x="6812280" y="4956048"/>
            <a:ext cx="1737360" cy="640080"/>
          </a:xfrm>
          <a:prstGeom prst="roundRect">
            <a:avLst>
              <a:gd name="adj" fmla="val 50000"/>
            </a:avLst>
          </a:prstGeom>
          <a:solidFill>
            <a:schemeClr val="accent4"/>
          </a:solidFill>
          <a:ln w="12700">
            <a:solidFill>
              <a:schemeClr val="accent4"/>
            </a:solidFill>
            <a:prstDash val="solid"/>
          </a:ln>
        </p:spPr>
      </p:sp>
      <p:sp>
        <p:nvSpPr>
          <p:cNvPr id="20" name="Text 17"/>
          <p:cNvSpPr txBox="1"/>
          <p:nvPr/>
        </p:nvSpPr>
        <p:spPr>
          <a:xfrm>
            <a:off x="6812280" y="4956048"/>
            <a:ext cx="1737360" cy="640080"/>
          </a:xfrm>
          <a:prstGeom prst="rect">
            <a:avLst/>
          </a:prstGeom>
          <a:noFill/>
          <a:ln/>
        </p:spPr>
        <p:txBody>
          <a:bodyPr wrap="square" lIns="0" tIns="0" rIns="0" bIns="0" rtlCol="0" anchor="ctr"/>
          <a:lstStyle/>
          <a:p>
            <a:pPr algn="ctr" indent="0" marL="0">
              <a:buNone/>
            </a:pPr>
            <a:r>
              <a:rPr lang="en-US" sz="1600" b="1" dirty="0">
                <a:solidFill>
                  <a:schemeClr val="bg1"/>
                </a:solidFill>
              </a:rPr>
              <a:t>NGOÀI VÙNG</a:t>
            </a:r>
            <a:endParaRPr lang="en-US" sz="1600" dirty="0"/>
          </a:p>
        </p:txBody>
      </p:sp>
      <p:sp>
        <p:nvSpPr>
          <p:cNvPr id="21" name="Text 18"/>
          <p:cNvSpPr txBox="1"/>
          <p:nvPr/>
        </p:nvSpPr>
        <p:spPr>
          <a:xfrm>
            <a:off x="8732520" y="4736592"/>
            <a:ext cx="2834640" cy="566928"/>
          </a:xfrm>
          <a:prstGeom prst="rect">
            <a:avLst/>
          </a:prstGeom>
          <a:noFill/>
          <a:ln/>
        </p:spPr>
        <p:txBody>
          <a:bodyPr wrap="square" lIns="0" tIns="0" rIns="0" bIns="0" rtlCol="0" anchor="b"/>
          <a:lstStyle/>
          <a:p>
            <a:pPr indent="0" marL="0">
              <a:buNone/>
            </a:pPr>
            <a:r>
              <a:rPr lang="en-US" sz="1500" b="1" dirty="0">
                <a:solidFill>
                  <a:schemeClr val="tx2"/>
                </a:solidFill>
              </a:rPr>
              <a:t>Không thoả điều kiện ngang</a:t>
            </a:r>
            <a:endParaRPr lang="en-US" sz="1500" dirty="0"/>
          </a:p>
        </p:txBody>
      </p:sp>
      <p:sp>
        <p:nvSpPr>
          <p:cNvPr id="22" name="Text 19"/>
          <p:cNvSpPr txBox="1"/>
          <p:nvPr/>
        </p:nvSpPr>
        <p:spPr>
          <a:xfrm>
            <a:off x="8732520" y="5376672"/>
            <a:ext cx="2834640" cy="502920"/>
          </a:xfrm>
          <a:prstGeom prst="rect">
            <a:avLst/>
          </a:prstGeom>
          <a:noFill/>
          <a:ln/>
        </p:spPr>
        <p:txBody>
          <a:bodyPr wrap="square" lIns="0" tIns="0" rIns="0" bIns="0" rtlCol="0" anchor="t"/>
          <a:lstStyle/>
          <a:p>
            <a:pPr indent="0" marL="0">
              <a:buNone/>
            </a:pPr>
            <a:r>
              <a:rPr lang="en-US" sz="1350" dirty="0">
                <a:solidFill>
                  <a:schemeClr val="tx1"/>
                </a:solidFill>
              </a:rPr>
              <a:t>Từ chối, mời gửi giải trình</a:t>
            </a:r>
            <a:endParaRPr lang="en-US" sz="13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94415" cy="777240"/>
          </a:xfrm>
          <a:prstGeom prst="rect">
            <a:avLst/>
          </a:prstGeom>
          <a:noFill/>
          <a:ln/>
        </p:spPr>
        <p:txBody>
          <a:bodyPr wrap="square"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Bốn quy tắc phát hiện bất thường</a:t>
            </a:r>
            <a:endParaRPr lang="en-US" sz="3200" dirty="0"/>
          </a:p>
        </p:txBody>
      </p:sp>
      <p:sp>
        <p:nvSpPr>
          <p:cNvPr id="4" name="Quy tắc R1"/>
          <p:cNvSpPr/>
          <p:nvPr/>
        </p:nvSpPr>
        <p:spPr>
          <a:xfrm>
            <a:off x="548640" y="1463040"/>
            <a:ext cx="5440680" cy="2103120"/>
          </a:xfrm>
          <a:prstGeom prst="roundRect">
            <a:avLst>
              <a:gd name="adj" fmla="val 5217"/>
            </a:avLst>
          </a:prstGeom>
          <a:solidFill>
            <a:schemeClr val="bg2"/>
          </a:solidFill>
          <a:ln w="12700">
            <a:solidFill>
              <a:schemeClr val="bg2"/>
            </a:solidFill>
            <a:prstDash val="solid"/>
          </a:ln>
        </p:spPr>
      </p:sp>
      <p:sp>
        <p:nvSpPr>
          <p:cNvPr id="5" name="Biểu tượng R1 (nền)"/>
          <p:cNvSpPr/>
          <p:nvPr/>
        </p:nvSpPr>
        <p:spPr>
          <a:xfrm>
            <a:off x="868680" y="1828800"/>
            <a:ext cx="914400" cy="914400"/>
          </a:xfrm>
          <a:prstGeom prst="ellipse">
            <a:avLst/>
          </a:prstGeom>
          <a:solidFill>
            <a:schemeClr val="accent1"/>
          </a:solidFill>
          <a:ln w="12700">
            <a:solidFill>
              <a:schemeClr val="accent1"/>
            </a:solidFill>
            <a:prstDash val="solid"/>
          </a:ln>
        </p:spPr>
      </p:sp>
      <p:pic>
        <p:nvPicPr>
          <p:cNvPr id="6" name="Biểu tượng R1" descr="Biểu tượng R1">    </p:cNvPr>
          <p:cNvPicPr>
            <a:picLocks noChangeAspect="1"/>
          </p:cNvPicPr>
          <p:nvPr/>
        </p:nvPicPr>
        <p:blipFill>
          <a:blip r:embed="rId1"/>
          <a:stretch>
            <a:fillRect/>
          </a:stretch>
        </p:blipFill>
        <p:spPr>
          <a:xfrm>
            <a:off x="1106424" y="2066544"/>
            <a:ext cx="438912" cy="438912"/>
          </a:xfrm>
          <a:prstGeom prst="rect">
            <a:avLst/>
          </a:prstGeom>
        </p:spPr>
      </p:pic>
      <p:sp>
        <p:nvSpPr>
          <p:cNvPr id="7" name="Text 3"/>
          <p:cNvSpPr txBox="1"/>
          <p:nvPr/>
        </p:nvSpPr>
        <p:spPr>
          <a:xfrm>
            <a:off x="2057400" y="1828800"/>
            <a:ext cx="3657600" cy="457200"/>
          </a:xfrm>
          <a:prstGeom prst="rect">
            <a:avLst/>
          </a:prstGeom>
          <a:noFill/>
          <a:ln/>
        </p:spPr>
        <p:txBody>
          <a:bodyPr wrap="square" lIns="0" tIns="0" rIns="0" bIns="0" rtlCol="0" anchor="t"/>
          <a:lstStyle/>
          <a:p>
            <a:pPr indent="0" marL="0">
              <a:buNone/>
            </a:pPr>
            <a:r>
              <a:rPr lang="en-US" sz="2000" b="1" dirty="0">
                <a:solidFill>
                  <a:schemeClr val="tx2"/>
                </a:solidFill>
              </a:rPr>
              <a:t>R1 · Sai tầng</a:t>
            </a:r>
            <a:endParaRPr lang="en-US" sz="2000" dirty="0"/>
          </a:p>
        </p:txBody>
      </p:sp>
      <p:sp>
        <p:nvSpPr>
          <p:cNvPr id="8" name="Text 4"/>
          <p:cNvSpPr txBox="1"/>
          <p:nvPr/>
        </p:nvSpPr>
        <p:spPr>
          <a:xfrm>
            <a:off x="2057400" y="2377440"/>
            <a:ext cx="3657600" cy="1005840"/>
          </a:xfrm>
          <a:prstGeom prst="rect">
            <a:avLst/>
          </a:prstGeom>
          <a:noFill/>
          <a:ln/>
        </p:spPr>
        <p:txBody>
          <a:bodyPr wrap="square" lIns="0" tIns="0" rIns="0" bIns="0" rtlCol="0" anchor="t"/>
          <a:lstStyle/>
          <a:p>
            <a:pPr indent="0" marL="0">
              <a:buNone/>
            </a:pPr>
            <a:r>
              <a:rPr lang="en-US" sz="1500" dirty="0">
                <a:solidFill>
                  <a:schemeClr val="tx1"/>
                </a:solidFill>
              </a:rPr>
              <a:t>Lệch cao độ so với dải khối, quy ra số tầng — mức CAO</a:t>
            </a:r>
            <a:endParaRPr lang="en-US" sz="1500" dirty="0"/>
          </a:p>
        </p:txBody>
      </p:sp>
      <p:sp>
        <p:nvSpPr>
          <p:cNvPr id="9" name="Quy tắc R2"/>
          <p:cNvSpPr/>
          <p:nvPr/>
        </p:nvSpPr>
        <p:spPr>
          <a:xfrm>
            <a:off x="6172200" y="1463040"/>
            <a:ext cx="5440680" cy="2103120"/>
          </a:xfrm>
          <a:prstGeom prst="roundRect">
            <a:avLst>
              <a:gd name="adj" fmla="val 5217"/>
            </a:avLst>
          </a:prstGeom>
          <a:solidFill>
            <a:schemeClr val="bg2"/>
          </a:solidFill>
          <a:ln w="12700">
            <a:solidFill>
              <a:schemeClr val="bg2"/>
            </a:solidFill>
            <a:prstDash val="solid"/>
          </a:ln>
        </p:spPr>
      </p:sp>
      <p:sp>
        <p:nvSpPr>
          <p:cNvPr id="10" name="Biểu tượng R2 (nền)"/>
          <p:cNvSpPr/>
          <p:nvPr/>
        </p:nvSpPr>
        <p:spPr>
          <a:xfrm>
            <a:off x="6492240" y="1828800"/>
            <a:ext cx="914400" cy="914400"/>
          </a:xfrm>
          <a:prstGeom prst="ellipse">
            <a:avLst/>
          </a:prstGeom>
          <a:solidFill>
            <a:schemeClr val="accent4"/>
          </a:solidFill>
          <a:ln w="12700">
            <a:solidFill>
              <a:schemeClr val="accent4"/>
            </a:solidFill>
            <a:prstDash val="solid"/>
          </a:ln>
        </p:spPr>
      </p:sp>
      <p:pic>
        <p:nvPicPr>
          <p:cNvPr id="11" name="Biểu tượng R2" descr="Biểu tượng R2">    </p:cNvPr>
          <p:cNvPicPr>
            <a:picLocks noChangeAspect="1"/>
          </p:cNvPicPr>
          <p:nvPr/>
        </p:nvPicPr>
        <p:blipFill>
          <a:blip r:embed="rId2"/>
          <a:stretch>
            <a:fillRect/>
          </a:stretch>
        </p:blipFill>
        <p:spPr>
          <a:xfrm>
            <a:off x="6729984" y="2066544"/>
            <a:ext cx="438912" cy="438912"/>
          </a:xfrm>
          <a:prstGeom prst="rect">
            <a:avLst/>
          </a:prstGeom>
        </p:spPr>
      </p:pic>
      <p:sp>
        <p:nvSpPr>
          <p:cNvPr id="12" name="Text 7"/>
          <p:cNvSpPr txBox="1"/>
          <p:nvPr/>
        </p:nvSpPr>
        <p:spPr>
          <a:xfrm>
            <a:off x="7680960" y="1828800"/>
            <a:ext cx="3657600" cy="457200"/>
          </a:xfrm>
          <a:prstGeom prst="rect">
            <a:avLst/>
          </a:prstGeom>
          <a:noFill/>
          <a:ln/>
        </p:spPr>
        <p:txBody>
          <a:bodyPr wrap="square" lIns="0" tIns="0" rIns="0" bIns="0" rtlCol="0" anchor="t"/>
          <a:lstStyle/>
          <a:p>
            <a:pPr indent="0" marL="0">
              <a:buNone/>
            </a:pPr>
            <a:r>
              <a:rPr lang="en-US" sz="2000" b="1" dirty="0">
                <a:solidFill>
                  <a:schemeClr val="tx2"/>
                </a:solidFill>
              </a:rPr>
              <a:t>R2 · Dịch chuyển bất khả thi</a:t>
            </a:r>
            <a:endParaRPr lang="en-US" sz="2000" dirty="0"/>
          </a:p>
        </p:txBody>
      </p:sp>
      <p:sp>
        <p:nvSpPr>
          <p:cNvPr id="13" name="Text 8"/>
          <p:cNvSpPr txBox="1"/>
          <p:nvPr/>
        </p:nvSpPr>
        <p:spPr>
          <a:xfrm>
            <a:off x="7680960" y="2377440"/>
            <a:ext cx="3657600" cy="1005840"/>
          </a:xfrm>
          <a:prstGeom prst="rect">
            <a:avLst/>
          </a:prstGeom>
          <a:noFill/>
          <a:ln/>
        </p:spPr>
        <p:txBody>
          <a:bodyPr wrap="square" lIns="0" tIns="0" rIns="0" bIns="0" rtlCol="0" anchor="t"/>
          <a:lstStyle/>
          <a:p>
            <a:pPr indent="0" marL="0">
              <a:buNone/>
            </a:pPr>
            <a:r>
              <a:rPr lang="en-US" sz="1500" dirty="0">
                <a:solidFill>
                  <a:schemeClr val="tx1"/>
                </a:solidFill>
              </a:rPr>
              <a:t>Vận tốc giữa hai lần chấm công &gt; 150 km/h — hàm kiem_tra_r2() trong PostGIS</a:t>
            </a:r>
            <a:endParaRPr lang="en-US" sz="1500" dirty="0"/>
          </a:p>
        </p:txBody>
      </p:sp>
      <p:sp>
        <p:nvSpPr>
          <p:cNvPr id="14" name="Quy tắc R3"/>
          <p:cNvSpPr/>
          <p:nvPr/>
        </p:nvSpPr>
        <p:spPr>
          <a:xfrm>
            <a:off x="548640" y="3794760"/>
            <a:ext cx="5440680" cy="2103120"/>
          </a:xfrm>
          <a:prstGeom prst="roundRect">
            <a:avLst>
              <a:gd name="adj" fmla="val 5217"/>
            </a:avLst>
          </a:prstGeom>
          <a:solidFill>
            <a:schemeClr val="bg2"/>
          </a:solidFill>
          <a:ln w="12700">
            <a:solidFill>
              <a:schemeClr val="bg2"/>
            </a:solidFill>
            <a:prstDash val="solid"/>
          </a:ln>
        </p:spPr>
      </p:sp>
      <p:sp>
        <p:nvSpPr>
          <p:cNvPr id="15" name="Biểu tượng R3 (nền)"/>
          <p:cNvSpPr/>
          <p:nvPr/>
        </p:nvSpPr>
        <p:spPr>
          <a:xfrm>
            <a:off x="868680" y="4160520"/>
            <a:ext cx="914400" cy="914400"/>
          </a:xfrm>
          <a:prstGeom prst="ellipse">
            <a:avLst/>
          </a:prstGeom>
          <a:solidFill>
            <a:schemeClr val="accent3"/>
          </a:solidFill>
          <a:ln w="12700">
            <a:solidFill>
              <a:schemeClr val="accent3"/>
            </a:solidFill>
            <a:prstDash val="solid"/>
          </a:ln>
        </p:spPr>
      </p:sp>
      <p:pic>
        <p:nvPicPr>
          <p:cNvPr id="16" name="Biểu tượng R3" descr="Biểu tượng R3">    </p:cNvPr>
          <p:cNvPicPr>
            <a:picLocks noChangeAspect="1"/>
          </p:cNvPicPr>
          <p:nvPr/>
        </p:nvPicPr>
        <p:blipFill>
          <a:blip r:embed="rId3"/>
          <a:stretch>
            <a:fillRect/>
          </a:stretch>
        </p:blipFill>
        <p:spPr>
          <a:xfrm>
            <a:off x="1106424" y="4398264"/>
            <a:ext cx="438912" cy="438912"/>
          </a:xfrm>
          <a:prstGeom prst="rect">
            <a:avLst/>
          </a:prstGeom>
        </p:spPr>
      </p:pic>
      <p:sp>
        <p:nvSpPr>
          <p:cNvPr id="17" name="Text 11"/>
          <p:cNvSpPr txBox="1"/>
          <p:nvPr/>
        </p:nvSpPr>
        <p:spPr>
          <a:xfrm>
            <a:off x="2057400" y="4160520"/>
            <a:ext cx="3657600" cy="457200"/>
          </a:xfrm>
          <a:prstGeom prst="rect">
            <a:avLst/>
          </a:prstGeom>
          <a:noFill/>
          <a:ln/>
        </p:spPr>
        <p:txBody>
          <a:bodyPr wrap="square" lIns="0" tIns="0" rIns="0" bIns="0" rtlCol="0" anchor="t"/>
          <a:lstStyle/>
          <a:p>
            <a:pPr indent="0" marL="0">
              <a:buNone/>
            </a:pPr>
            <a:r>
              <a:rPr lang="en-US" sz="2000" b="1" dirty="0">
                <a:solidFill>
                  <a:schemeClr val="tx2"/>
                </a:solidFill>
              </a:rPr>
              <a:t>R3 · Độ chính xác bất thường</a:t>
            </a:r>
            <a:endParaRPr lang="en-US" sz="2000" dirty="0"/>
          </a:p>
        </p:txBody>
      </p:sp>
      <p:sp>
        <p:nvSpPr>
          <p:cNvPr id="18" name="Text 12"/>
          <p:cNvSpPr txBox="1"/>
          <p:nvPr/>
        </p:nvSpPr>
        <p:spPr>
          <a:xfrm>
            <a:off x="2057400" y="4709160"/>
            <a:ext cx="3657600" cy="1005840"/>
          </a:xfrm>
          <a:prstGeom prst="rect">
            <a:avLst/>
          </a:prstGeom>
          <a:noFill/>
          <a:ln/>
        </p:spPr>
        <p:txBody>
          <a:bodyPr wrap="square" lIns="0" tIns="0" rIns="0" bIns="0" rtlCol="0" anchor="t"/>
          <a:lstStyle/>
          <a:p>
            <a:pPr indent="0" marL="0">
              <a:buNone/>
            </a:pPr>
            <a:r>
              <a:rPr lang="en-US" sz="1500" dirty="0">
                <a:solidFill>
                  <a:schemeClr val="tx1"/>
                </a:solidFill>
              </a:rPr>
              <a:t>accuracy &lt; 1 m (nghi giả lập GPS) hoặc &gt; 100 m (không đủ tin cậy)</a:t>
            </a:r>
            <a:endParaRPr lang="en-US" sz="1500" dirty="0"/>
          </a:p>
        </p:txBody>
      </p:sp>
      <p:sp>
        <p:nvSpPr>
          <p:cNvPr id="19" name="Quy tắc R4"/>
          <p:cNvSpPr/>
          <p:nvPr/>
        </p:nvSpPr>
        <p:spPr>
          <a:xfrm>
            <a:off x="6172200" y="3794760"/>
            <a:ext cx="5440680" cy="2103120"/>
          </a:xfrm>
          <a:prstGeom prst="roundRect">
            <a:avLst>
              <a:gd name="adj" fmla="val 5217"/>
            </a:avLst>
          </a:prstGeom>
          <a:solidFill>
            <a:schemeClr val="bg2"/>
          </a:solidFill>
          <a:ln w="12700">
            <a:solidFill>
              <a:schemeClr val="bg2"/>
            </a:solidFill>
            <a:prstDash val="solid"/>
          </a:ln>
        </p:spPr>
      </p:sp>
      <p:sp>
        <p:nvSpPr>
          <p:cNvPr id="20" name="Biểu tượng R4 (nền)"/>
          <p:cNvSpPr/>
          <p:nvPr/>
        </p:nvSpPr>
        <p:spPr>
          <a:xfrm>
            <a:off x="6492240" y="4160520"/>
            <a:ext cx="914400" cy="914400"/>
          </a:xfrm>
          <a:prstGeom prst="ellipse">
            <a:avLst/>
          </a:prstGeom>
          <a:solidFill>
            <a:schemeClr val="accent6"/>
          </a:solidFill>
          <a:ln w="12700">
            <a:solidFill>
              <a:schemeClr val="accent6"/>
            </a:solidFill>
            <a:prstDash val="solid"/>
          </a:ln>
        </p:spPr>
      </p:sp>
      <p:pic>
        <p:nvPicPr>
          <p:cNvPr id="21" name="Biểu tượng R4" descr="Biểu tượng R4">    </p:cNvPr>
          <p:cNvPicPr>
            <a:picLocks noChangeAspect="1"/>
          </p:cNvPicPr>
          <p:nvPr/>
        </p:nvPicPr>
        <p:blipFill>
          <a:blip r:embed="rId4"/>
          <a:stretch>
            <a:fillRect/>
          </a:stretch>
        </p:blipFill>
        <p:spPr>
          <a:xfrm>
            <a:off x="6729984" y="4398264"/>
            <a:ext cx="438912" cy="438912"/>
          </a:xfrm>
          <a:prstGeom prst="rect">
            <a:avLst/>
          </a:prstGeom>
        </p:spPr>
      </p:pic>
      <p:sp>
        <p:nvSpPr>
          <p:cNvPr id="22" name="Text 15"/>
          <p:cNvSpPr txBox="1"/>
          <p:nvPr/>
        </p:nvSpPr>
        <p:spPr>
          <a:xfrm>
            <a:off x="7680960" y="4160520"/>
            <a:ext cx="3657600" cy="457200"/>
          </a:xfrm>
          <a:prstGeom prst="rect">
            <a:avLst/>
          </a:prstGeom>
          <a:noFill/>
          <a:ln/>
        </p:spPr>
        <p:txBody>
          <a:bodyPr wrap="square" lIns="0" tIns="0" rIns="0" bIns="0" rtlCol="0" anchor="t"/>
          <a:lstStyle/>
          <a:p>
            <a:pPr indent="0" marL="0">
              <a:buNone/>
            </a:pPr>
            <a:r>
              <a:rPr lang="en-US" sz="2000" b="1" dirty="0">
                <a:solidFill>
                  <a:schemeClr val="tx2"/>
                </a:solidFill>
              </a:rPr>
              <a:t>R4 · Trùng thiết bị</a:t>
            </a:r>
            <a:endParaRPr lang="en-US" sz="2000" dirty="0"/>
          </a:p>
        </p:txBody>
      </p:sp>
      <p:sp>
        <p:nvSpPr>
          <p:cNvPr id="23" name="Text 16"/>
          <p:cNvSpPr txBox="1"/>
          <p:nvPr/>
        </p:nvSpPr>
        <p:spPr>
          <a:xfrm>
            <a:off x="7680960" y="4709160"/>
            <a:ext cx="3657600" cy="1005840"/>
          </a:xfrm>
          <a:prstGeom prst="rect">
            <a:avLst/>
          </a:prstGeom>
          <a:noFill/>
          <a:ln/>
        </p:spPr>
        <p:txBody>
          <a:bodyPr wrap="square" lIns="0" tIns="0" rIns="0" bIns="0" rtlCol="0" anchor="t"/>
          <a:lstStyle/>
          <a:p>
            <a:pPr indent="0" marL="0">
              <a:buNone/>
            </a:pPr>
            <a:r>
              <a:rPr lang="en-US" sz="1500" dirty="0">
                <a:solidFill>
                  <a:schemeClr val="tx1"/>
                </a:solidFill>
              </a:rPr>
              <a:t>Cùng định danh thiết bị, khác nhân viên, trong vòng 10 phút</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94415" cy="777240"/>
          </a:xfrm>
          <a:prstGeom prst="rect">
            <a:avLst/>
          </a:prstGeom>
          <a:noFill/>
          <a:ln/>
        </p:spPr>
        <p:txBody>
          <a:bodyPr wrap="square"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Sơ đồ quan hệ thực thể</a:t>
            </a:r>
            <a:endParaRPr lang="en-US" sz="3200" dirty="0"/>
          </a:p>
        </p:txBody>
      </p:sp>
      <p:pic>
        <p:nvPicPr>
          <p:cNvPr id="4" name="Sơ đồ ERD" descr="Sơ đồ ERD">    </p:cNvPr>
          <p:cNvPicPr>
            <a:picLocks noChangeAspect="1"/>
          </p:cNvPicPr>
          <p:nvPr/>
        </p:nvPicPr>
        <p:blipFill>
          <a:blip r:embed="rId1"/>
          <a:stretch>
            <a:fillRect/>
          </a:stretch>
        </p:blipFill>
        <p:spPr>
          <a:xfrm>
            <a:off x="548640" y="1188720"/>
            <a:ext cx="4016273" cy="5074920"/>
          </a:xfrm>
          <a:prstGeom prst="rect">
            <a:avLst/>
          </a:prstGeom>
          <a:effectLst>
            <a:outerShdw sx="100000" sy="100000" kx="0" ky="0" algn="bl" rotWithShape="0" blurRad="76200" dist="25400" dir="5400000">
              <a:srgbClr val="000000">
                <a:alpha val="18000"/>
              </a:srgbClr>
            </a:outerShdw>
          </a:effectLst>
        </p:spPr>
      </p:pic>
      <p:sp>
        <p:nvSpPr>
          <p:cNvPr id="5" name="Text 1"/>
          <p:cNvSpPr txBox="1"/>
          <p:nvPr/>
        </p:nvSpPr>
        <p:spPr>
          <a:xfrm>
            <a:off x="6126480" y="1371600"/>
            <a:ext cx="1737360" cy="91440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14</a:t>
            </a:r>
            <a:endParaRPr lang="en-US" sz="5400" dirty="0"/>
          </a:p>
        </p:txBody>
      </p:sp>
      <p:sp>
        <p:nvSpPr>
          <p:cNvPr id="6" name="Text 2"/>
          <p:cNvSpPr txBox="1"/>
          <p:nvPr/>
        </p:nvSpPr>
        <p:spPr>
          <a:xfrm>
            <a:off x="6126480" y="2286000"/>
            <a:ext cx="1737360" cy="365760"/>
          </a:xfrm>
          <a:prstGeom prst="rect">
            <a:avLst/>
          </a:prstGeom>
          <a:noFill/>
          <a:ln/>
        </p:spPr>
        <p:txBody>
          <a:bodyPr wrap="square" lIns="0" tIns="0" rIns="0" bIns="0" rtlCol="0" anchor="t"/>
          <a:lstStyle/>
          <a:p>
            <a:pPr indent="0" marL="0">
              <a:buNone/>
            </a:pPr>
            <a:r>
              <a:rPr lang="en-US" sz="1500" dirty="0">
                <a:solidFill>
                  <a:srgbClr val="57606A"/>
                </a:solidFill>
              </a:rPr>
              <a:t>bảng</a:t>
            </a:r>
            <a:endParaRPr lang="en-US" sz="1500" dirty="0"/>
          </a:p>
        </p:txBody>
      </p:sp>
      <p:sp>
        <p:nvSpPr>
          <p:cNvPr id="7" name="Text 3"/>
          <p:cNvSpPr txBox="1"/>
          <p:nvPr/>
        </p:nvSpPr>
        <p:spPr>
          <a:xfrm>
            <a:off x="8001000" y="1371600"/>
            <a:ext cx="1737360" cy="91440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8</a:t>
            </a:r>
            <a:endParaRPr lang="en-US" sz="5400" dirty="0"/>
          </a:p>
        </p:txBody>
      </p:sp>
      <p:sp>
        <p:nvSpPr>
          <p:cNvPr id="8" name="Text 4"/>
          <p:cNvSpPr txBox="1"/>
          <p:nvPr/>
        </p:nvSpPr>
        <p:spPr>
          <a:xfrm>
            <a:off x="8001000" y="2286000"/>
            <a:ext cx="1737360" cy="365760"/>
          </a:xfrm>
          <a:prstGeom prst="rect">
            <a:avLst/>
          </a:prstGeom>
          <a:noFill/>
          <a:ln/>
        </p:spPr>
        <p:txBody>
          <a:bodyPr wrap="square" lIns="0" tIns="0" rIns="0" bIns="0" rtlCol="0" anchor="t"/>
          <a:lstStyle/>
          <a:p>
            <a:pPr indent="0" marL="0">
              <a:buNone/>
            </a:pPr>
            <a:r>
              <a:rPr lang="en-US" sz="1500" dirty="0">
                <a:solidFill>
                  <a:srgbClr val="57606A"/>
                </a:solidFill>
              </a:rPr>
              <a:t>hàm PL/pgSQL</a:t>
            </a:r>
            <a:endParaRPr lang="en-US" sz="1500" dirty="0"/>
          </a:p>
        </p:txBody>
      </p:sp>
      <p:sp>
        <p:nvSpPr>
          <p:cNvPr id="9" name="Text 5"/>
          <p:cNvSpPr txBox="1"/>
          <p:nvPr/>
        </p:nvSpPr>
        <p:spPr>
          <a:xfrm>
            <a:off x="9875520" y="1371600"/>
            <a:ext cx="1737360" cy="91440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4</a:t>
            </a:r>
            <a:endParaRPr lang="en-US" sz="5400" dirty="0"/>
          </a:p>
        </p:txBody>
      </p:sp>
      <p:sp>
        <p:nvSpPr>
          <p:cNvPr id="10" name="Text 6"/>
          <p:cNvSpPr txBox="1"/>
          <p:nvPr/>
        </p:nvSpPr>
        <p:spPr>
          <a:xfrm>
            <a:off x="9875520" y="2286000"/>
            <a:ext cx="1737360" cy="365760"/>
          </a:xfrm>
          <a:prstGeom prst="rect">
            <a:avLst/>
          </a:prstGeom>
          <a:noFill/>
          <a:ln/>
        </p:spPr>
        <p:txBody>
          <a:bodyPr wrap="square" lIns="0" tIns="0" rIns="0" bIns="0" rtlCol="0" anchor="t"/>
          <a:lstStyle/>
          <a:p>
            <a:pPr indent="0" marL="0">
              <a:buNone/>
            </a:pPr>
            <a:r>
              <a:rPr lang="en-US" sz="1500" dirty="0">
                <a:solidFill>
                  <a:srgbClr val="57606A"/>
                </a:solidFill>
              </a:rPr>
              <a:t>trigger</a:t>
            </a:r>
            <a:endParaRPr lang="en-US" sz="1500" dirty="0"/>
          </a:p>
        </p:txBody>
      </p:sp>
      <p:sp>
        <p:nvSpPr>
          <p:cNvPr id="11" name="Nhóm Tổ chức"/>
          <p:cNvSpPr/>
          <p:nvPr/>
        </p:nvSpPr>
        <p:spPr>
          <a:xfrm>
            <a:off x="6126480" y="2926080"/>
            <a:ext cx="5532120" cy="658368"/>
          </a:xfrm>
          <a:prstGeom prst="roundRect">
            <a:avLst>
              <a:gd name="adj" fmla="val 16667"/>
            </a:avLst>
          </a:prstGeom>
          <a:solidFill>
            <a:schemeClr val="bg2"/>
          </a:solidFill>
          <a:ln w="12700">
            <a:solidFill>
              <a:schemeClr val="bg2"/>
            </a:solidFill>
            <a:prstDash val="solid"/>
          </a:ln>
        </p:spPr>
      </p:sp>
      <p:sp>
        <p:nvSpPr>
          <p:cNvPr id="12" name="Text 8"/>
          <p:cNvSpPr txBox="1"/>
          <p:nvPr/>
        </p:nvSpPr>
        <p:spPr>
          <a:xfrm>
            <a:off x="6309360" y="3081528"/>
            <a:ext cx="1463040" cy="365760"/>
          </a:xfrm>
          <a:prstGeom prst="rect">
            <a:avLst/>
          </a:prstGeom>
          <a:noFill/>
          <a:ln/>
        </p:spPr>
        <p:txBody>
          <a:bodyPr wrap="square" lIns="0" tIns="0" rIns="0" bIns="0" rtlCol="0" anchor="t"/>
          <a:lstStyle/>
          <a:p>
            <a:pPr indent="0" marL="0">
              <a:buNone/>
            </a:pPr>
            <a:r>
              <a:rPr lang="en-US" sz="1500" b="1" dirty="0">
                <a:solidFill>
                  <a:schemeClr val="tx2"/>
                </a:solidFill>
              </a:rPr>
              <a:t>Tổ chức</a:t>
            </a:r>
            <a:endParaRPr lang="en-US" sz="1500" dirty="0"/>
          </a:p>
        </p:txBody>
      </p:sp>
      <p:sp>
        <p:nvSpPr>
          <p:cNvPr id="13" name="Text 9"/>
          <p:cNvSpPr txBox="1"/>
          <p:nvPr/>
        </p:nvSpPr>
        <p:spPr>
          <a:xfrm>
            <a:off x="7772400" y="3081528"/>
            <a:ext cx="3794760" cy="365760"/>
          </a:xfrm>
          <a:prstGeom prst="rect">
            <a:avLst/>
          </a:prstGeom>
          <a:noFill/>
          <a:ln/>
        </p:spPr>
        <p:txBody>
          <a:bodyPr wrap="square" lIns="0" tIns="0" rIns="0" bIns="0" rtlCol="0" anchor="t"/>
          <a:lstStyle/>
          <a:p>
            <a:pPr indent="0" marL="0">
              <a:buNone/>
            </a:pPr>
            <a:r>
              <a:rPr lang="en-US" sz="1400" dirty="0">
                <a:solidFill>
                  <a:schemeClr val="tx1"/>
                </a:solidFill>
              </a:rPr>
              <a:t>công ty · phòng ban</a:t>
            </a:r>
            <a:endParaRPr lang="en-US" sz="1400" dirty="0"/>
          </a:p>
        </p:txBody>
      </p:sp>
      <p:sp>
        <p:nvSpPr>
          <p:cNvPr id="14" name="Nhóm Không gian"/>
          <p:cNvSpPr/>
          <p:nvPr/>
        </p:nvSpPr>
        <p:spPr>
          <a:xfrm>
            <a:off x="6126480" y="3703320"/>
            <a:ext cx="5532120" cy="658368"/>
          </a:xfrm>
          <a:prstGeom prst="roundRect">
            <a:avLst>
              <a:gd name="adj" fmla="val 16667"/>
            </a:avLst>
          </a:prstGeom>
          <a:solidFill>
            <a:schemeClr val="bg2"/>
          </a:solidFill>
          <a:ln w="12700">
            <a:solidFill>
              <a:schemeClr val="bg2"/>
            </a:solidFill>
            <a:prstDash val="solid"/>
          </a:ln>
        </p:spPr>
      </p:sp>
      <p:sp>
        <p:nvSpPr>
          <p:cNvPr id="15" name="Text 11"/>
          <p:cNvSpPr txBox="1"/>
          <p:nvPr/>
        </p:nvSpPr>
        <p:spPr>
          <a:xfrm>
            <a:off x="6309360" y="3858768"/>
            <a:ext cx="1463040" cy="365760"/>
          </a:xfrm>
          <a:prstGeom prst="rect">
            <a:avLst/>
          </a:prstGeom>
          <a:noFill/>
          <a:ln/>
        </p:spPr>
        <p:txBody>
          <a:bodyPr wrap="square" lIns="0" tIns="0" rIns="0" bIns="0" rtlCol="0" anchor="t"/>
          <a:lstStyle/>
          <a:p>
            <a:pPr indent="0" marL="0">
              <a:buNone/>
            </a:pPr>
            <a:r>
              <a:rPr lang="en-US" sz="1500" b="1" dirty="0">
                <a:solidFill>
                  <a:schemeClr val="tx2"/>
                </a:solidFill>
              </a:rPr>
              <a:t>Không gian</a:t>
            </a:r>
            <a:endParaRPr lang="en-US" sz="1500" dirty="0"/>
          </a:p>
        </p:txBody>
      </p:sp>
      <p:sp>
        <p:nvSpPr>
          <p:cNvPr id="16" name="Text 12"/>
          <p:cNvSpPr txBox="1"/>
          <p:nvPr/>
        </p:nvSpPr>
        <p:spPr>
          <a:xfrm>
            <a:off x="7772400" y="3858768"/>
            <a:ext cx="3794760" cy="365760"/>
          </a:xfrm>
          <a:prstGeom prst="rect">
            <a:avLst/>
          </a:prstGeom>
          <a:noFill/>
          <a:ln/>
        </p:spPr>
        <p:txBody>
          <a:bodyPr wrap="square" lIns="0" tIns="0" rIns="0" bIns="0" rtlCol="0" anchor="t"/>
          <a:lstStyle/>
          <a:p>
            <a:pPr indent="0" marL="0">
              <a:buNone/>
            </a:pPr>
            <a:r>
              <a:rPr lang="en-US" sz="1400" dirty="0">
                <a:solidFill>
                  <a:schemeClr val="tx1"/>
                </a:solidFill>
              </a:rPr>
              <a:t>toà nhà · văn phòng · khối chấm công (MAP)</a:t>
            </a:r>
            <a:endParaRPr lang="en-US" sz="1400" dirty="0"/>
          </a:p>
        </p:txBody>
      </p:sp>
      <p:sp>
        <p:nvSpPr>
          <p:cNvPr id="17" name="Nhóm Nhân sự"/>
          <p:cNvSpPr/>
          <p:nvPr/>
        </p:nvSpPr>
        <p:spPr>
          <a:xfrm>
            <a:off x="6126480" y="4480560"/>
            <a:ext cx="5532120" cy="658368"/>
          </a:xfrm>
          <a:prstGeom prst="roundRect">
            <a:avLst>
              <a:gd name="adj" fmla="val 16667"/>
            </a:avLst>
          </a:prstGeom>
          <a:solidFill>
            <a:schemeClr val="bg2"/>
          </a:solidFill>
          <a:ln w="12700">
            <a:solidFill>
              <a:schemeClr val="bg2"/>
            </a:solidFill>
            <a:prstDash val="solid"/>
          </a:ln>
        </p:spPr>
      </p:sp>
      <p:sp>
        <p:nvSpPr>
          <p:cNvPr id="18" name="Text 14"/>
          <p:cNvSpPr txBox="1"/>
          <p:nvPr/>
        </p:nvSpPr>
        <p:spPr>
          <a:xfrm>
            <a:off x="6309360" y="4636008"/>
            <a:ext cx="1463040" cy="365760"/>
          </a:xfrm>
          <a:prstGeom prst="rect">
            <a:avLst/>
          </a:prstGeom>
          <a:noFill/>
          <a:ln/>
        </p:spPr>
        <p:txBody>
          <a:bodyPr wrap="square" lIns="0" tIns="0" rIns="0" bIns="0" rtlCol="0" anchor="t"/>
          <a:lstStyle/>
          <a:p>
            <a:pPr indent="0" marL="0">
              <a:buNone/>
            </a:pPr>
            <a:r>
              <a:rPr lang="en-US" sz="1500" b="1" dirty="0">
                <a:solidFill>
                  <a:schemeClr val="tx2"/>
                </a:solidFill>
              </a:rPr>
              <a:t>Nhân sự</a:t>
            </a:r>
            <a:endParaRPr lang="en-US" sz="1500" dirty="0"/>
          </a:p>
        </p:txBody>
      </p:sp>
      <p:sp>
        <p:nvSpPr>
          <p:cNvPr id="19" name="Text 15"/>
          <p:cNvSpPr txBox="1"/>
          <p:nvPr/>
        </p:nvSpPr>
        <p:spPr>
          <a:xfrm>
            <a:off x="7772400" y="4636008"/>
            <a:ext cx="3794760" cy="365760"/>
          </a:xfrm>
          <a:prstGeom prst="rect">
            <a:avLst/>
          </a:prstGeom>
          <a:noFill/>
          <a:ln/>
        </p:spPr>
        <p:txBody>
          <a:bodyPr wrap="square" lIns="0" tIns="0" rIns="0" bIns="0" rtlCol="0" anchor="t"/>
          <a:lstStyle/>
          <a:p>
            <a:pPr indent="0" marL="0">
              <a:buNone/>
            </a:pPr>
            <a:r>
              <a:rPr lang="en-US" sz="1400" dirty="0">
                <a:solidFill>
                  <a:schemeClr val="tx1"/>
                </a:solidFill>
              </a:rPr>
              <a:t>nhân viên · vai trò · tài khoản · thiết bị · ca · phân ca</a:t>
            </a:r>
            <a:endParaRPr lang="en-US" sz="1400" dirty="0"/>
          </a:p>
        </p:txBody>
      </p:sp>
      <p:sp>
        <p:nvSpPr>
          <p:cNvPr id="20" name="Nhóm Chấm công"/>
          <p:cNvSpPr/>
          <p:nvPr/>
        </p:nvSpPr>
        <p:spPr>
          <a:xfrm>
            <a:off x="6126480" y="5257800"/>
            <a:ext cx="5532120" cy="658368"/>
          </a:xfrm>
          <a:prstGeom prst="roundRect">
            <a:avLst>
              <a:gd name="adj" fmla="val 16667"/>
            </a:avLst>
          </a:prstGeom>
          <a:solidFill>
            <a:schemeClr val="bg2"/>
          </a:solidFill>
          <a:ln w="12700">
            <a:solidFill>
              <a:schemeClr val="bg2"/>
            </a:solidFill>
            <a:prstDash val="solid"/>
          </a:ln>
        </p:spPr>
      </p:sp>
      <p:sp>
        <p:nvSpPr>
          <p:cNvPr id="21" name="Text 17"/>
          <p:cNvSpPr txBox="1"/>
          <p:nvPr/>
        </p:nvSpPr>
        <p:spPr>
          <a:xfrm>
            <a:off x="6309360" y="5413248"/>
            <a:ext cx="1463040" cy="365760"/>
          </a:xfrm>
          <a:prstGeom prst="rect">
            <a:avLst/>
          </a:prstGeom>
          <a:noFill/>
          <a:ln/>
        </p:spPr>
        <p:txBody>
          <a:bodyPr wrap="square" lIns="0" tIns="0" rIns="0" bIns="0" rtlCol="0" anchor="t"/>
          <a:lstStyle/>
          <a:p>
            <a:pPr indent="0" marL="0">
              <a:buNone/>
            </a:pPr>
            <a:r>
              <a:rPr lang="en-US" sz="1500" b="1" dirty="0">
                <a:solidFill>
                  <a:schemeClr val="tx2"/>
                </a:solidFill>
              </a:rPr>
              <a:t>Chấm công</a:t>
            </a:r>
            <a:endParaRPr lang="en-US" sz="1500" dirty="0"/>
          </a:p>
        </p:txBody>
      </p:sp>
      <p:sp>
        <p:nvSpPr>
          <p:cNvPr id="22" name="Text 18"/>
          <p:cNvSpPr txBox="1"/>
          <p:nvPr/>
        </p:nvSpPr>
        <p:spPr>
          <a:xfrm>
            <a:off x="7772400" y="5413248"/>
            <a:ext cx="3794760" cy="365760"/>
          </a:xfrm>
          <a:prstGeom prst="rect">
            <a:avLst/>
          </a:prstGeom>
          <a:noFill/>
          <a:ln/>
        </p:spPr>
        <p:txBody>
          <a:bodyPr wrap="square" lIns="0" tIns="0" rIns="0" bIns="0" rtlCol="0" anchor="t"/>
          <a:lstStyle/>
          <a:p>
            <a:pPr indent="0" marL="0">
              <a:buNone/>
            </a:pPr>
            <a:r>
              <a:rPr lang="en-US" sz="1400" dirty="0">
                <a:solidFill>
                  <a:schemeClr val="tx1"/>
                </a:solidFill>
              </a:rPr>
              <a:t>bản ghi PointZ · cảnh báo R1–R4 · đơn giải trình</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94415" cy="777240"/>
          </a:xfrm>
          <a:prstGeom prst="rect">
            <a:avLst/>
          </a:prstGeom>
          <a:noFill/>
          <a:ln/>
        </p:spPr>
        <p:txBody>
          <a:bodyPr wrap="square"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Use case và luồng chấm công</a:t>
            </a:r>
            <a:endParaRPr lang="en-US" sz="3200" dirty="0"/>
          </a:p>
        </p:txBody>
      </p:sp>
      <p:pic>
        <p:nvPicPr>
          <p:cNvPr id="4" name="Sơ đồ use case" descr="Sơ đồ use case">    </p:cNvPr>
          <p:cNvPicPr>
            <a:picLocks noChangeAspect="1"/>
          </p:cNvPicPr>
          <p:nvPr/>
        </p:nvPicPr>
        <p:blipFill>
          <a:blip r:embed="rId1"/>
          <a:stretch>
            <a:fillRect/>
          </a:stretch>
        </p:blipFill>
        <p:spPr>
          <a:xfrm>
            <a:off x="548640" y="1275741"/>
            <a:ext cx="3840480" cy="4763718"/>
          </a:xfrm>
          <a:prstGeom prst="rect">
            <a:avLst/>
          </a:prstGeom>
          <a:effectLst>
            <a:outerShdw sx="100000" sy="100000" kx="0" ky="0" algn="bl" rotWithShape="0" blurRad="76200" dist="25400" dir="5400000">
              <a:srgbClr val="000000">
                <a:alpha val="18000"/>
              </a:srgbClr>
            </a:outerShdw>
          </a:effectLst>
        </p:spPr>
      </p:pic>
      <p:pic>
        <p:nvPicPr>
          <p:cNvPr id="5" name="Sơ đồ trình tự chấm công" descr="Sơ đồ trình tự chấm công">    </p:cNvPr>
          <p:cNvPicPr>
            <a:picLocks noChangeAspect="1"/>
          </p:cNvPicPr>
          <p:nvPr/>
        </p:nvPicPr>
        <p:blipFill>
          <a:blip r:embed="rId2"/>
          <a:stretch>
            <a:fillRect/>
          </a:stretch>
        </p:blipFill>
        <p:spPr>
          <a:xfrm>
            <a:off x="5466097" y="1188720"/>
            <a:ext cx="5344125" cy="4389120"/>
          </a:xfrm>
          <a:prstGeom prst="rect">
            <a:avLst/>
          </a:prstGeom>
          <a:effectLst>
            <a:outerShdw sx="100000" sy="100000" kx="0" ky="0" algn="bl" rotWithShape="0" blurRad="76200" dist="25400" dir="5400000">
              <a:srgbClr val="000000">
                <a:alpha val="18000"/>
              </a:srgbClr>
            </a:outerShdw>
          </a:effectLst>
        </p:spPr>
      </p:pic>
      <p:sp>
        <p:nvSpPr>
          <p:cNvPr id="6" name="Text 1"/>
          <p:cNvSpPr txBox="1"/>
          <p:nvPr/>
        </p:nvSpPr>
        <p:spPr>
          <a:xfrm>
            <a:off x="4663440" y="5715000"/>
            <a:ext cx="6949440" cy="365760"/>
          </a:xfrm>
          <a:prstGeom prst="rect">
            <a:avLst/>
          </a:prstGeom>
          <a:noFill/>
          <a:ln/>
        </p:spPr>
        <p:txBody>
          <a:bodyPr wrap="square" lIns="0" tIns="0" rIns="0" bIns="0" rtlCol="0" anchor="t"/>
          <a:lstStyle/>
          <a:p>
            <a:pPr algn="ctr" indent="0" marL="0">
              <a:buNone/>
            </a:pPr>
            <a:r>
              <a:rPr lang="en-US" sz="1400" i="1" dirty="0">
                <a:solidFill>
                  <a:srgbClr val="57606A"/>
                </a:solidFill>
              </a:rPr>
              <a:t>Kiểm tra bao hàm, áp R1–R4, ghi bản ghi và cảnh báo trong một giao dịch</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ph idx="100" type="body" hasCustomPrompt="1"/>
          </p:nvPr>
        </p:nvSpPr>
        <p:spPr>
          <a:xfrm>
            <a:off x="548640" y="2011680"/>
            <a:ext cx="2743200" cy="1097280"/>
          </a:xfrm>
          <a:prstGeom prst="rect">
            <a:avLst/>
          </a:prstGeom>
          <a:noFill/>
          <a:ln/>
        </p:spPr>
        <p:txBody>
          <a:bodyPr wrap="square" rtlCol="0"/>
          <a:lstStyle/>
          <a:p>
            <a:pPr algn="l" indent="0" marL="0">
              <a:buNone/>
            </a:pPr>
            <a:r>
              <a:rPr lang="en-US" sz="6000" b="1" dirty="0">
                <a:solidFill>
                  <a:schemeClr val="accent1"/>
                </a:solidFill>
                <a:latin typeface="Cambria" pitchFamily="34" charset="0"/>
                <a:ea typeface="Cambria" pitchFamily="34" charset="-122"/>
                <a:cs typeface="Cambria" pitchFamily="34" charset="-120"/>
              </a:rPr>
              <a:t>02</a:t>
            </a:r>
            <a:endParaRPr lang="en-US" sz="6000" dirty="0"/>
          </a:p>
        </p:txBody>
      </p:sp>
      <p:sp>
        <p:nvSpPr>
          <p:cNvPr id="4" name="Text 0"/>
          <p:cNvSpPr/>
          <p:nvPr>
            <p:ph idx="101" type="title" hasCustomPrompt="1"/>
          </p:nvPr>
        </p:nvSpPr>
        <p:spPr>
          <a:xfrm>
            <a:off x="548640" y="3108960"/>
            <a:ext cx="10058400" cy="1097280"/>
          </a:xfrm>
          <a:prstGeom prst="rect">
            <a:avLst/>
          </a:prstGeom>
          <a:noFill/>
          <a:ln/>
        </p:spPr>
        <p:txBody>
          <a:bodyPr wrap="square" rtlCol="0"/>
          <a:lstStyle/>
          <a:p>
            <a:pPr algn="l" indent="0" marL="0">
              <a:buNone/>
            </a:pPr>
            <a:r>
              <a:rPr lang="en-US" sz="4000" b="1" dirty="0">
                <a:solidFill>
                  <a:schemeClr val="bg1"/>
                </a:solidFill>
                <a:latin typeface="Cambria" pitchFamily="34" charset="0"/>
                <a:ea typeface="Cambria" pitchFamily="34" charset="-122"/>
                <a:cs typeface="Cambria" pitchFamily="34" charset="-120"/>
              </a:rPr>
              <a:t>Thiết kế ứng dụng</a:t>
            </a:r>
            <a:endParaRPr lang="en-US" sz="4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94415" cy="777240"/>
          </a:xfrm>
          <a:prstGeom prst="rect">
            <a:avLst/>
          </a:prstGeom>
          <a:noFill/>
          <a:ln/>
        </p:spPr>
        <p:txBody>
          <a:bodyPr wrap="square"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Kiến trúc và công nghệ</a:t>
            </a:r>
            <a:endParaRPr lang="en-US" sz="3200" dirty="0"/>
          </a:p>
        </p:txBody>
      </p:sp>
      <p:sp>
        <p:nvSpPr>
          <p:cNvPr id="4" name="Lớp Trình duyệt"/>
          <p:cNvSpPr/>
          <p:nvPr/>
        </p:nvSpPr>
        <p:spPr>
          <a:xfrm>
            <a:off x="548640" y="1554480"/>
            <a:ext cx="3291840" cy="3291840"/>
          </a:xfrm>
          <a:prstGeom prst="roundRect">
            <a:avLst>
              <a:gd name="adj" fmla="val 3333"/>
            </a:avLst>
          </a:prstGeom>
          <a:solidFill>
            <a:schemeClr val="bg2"/>
          </a:solidFill>
          <a:ln w="12700">
            <a:solidFill>
              <a:schemeClr val="bg2"/>
            </a:solidFill>
            <a:prstDash val="solid"/>
          </a:ln>
        </p:spPr>
      </p:sp>
      <p:sp>
        <p:nvSpPr>
          <p:cNvPr id="5" name="Biểu tượng Trình duyệt (nền)"/>
          <p:cNvSpPr/>
          <p:nvPr/>
        </p:nvSpPr>
        <p:spPr>
          <a:xfrm>
            <a:off x="1691640" y="1874520"/>
            <a:ext cx="1005840" cy="1005840"/>
          </a:xfrm>
          <a:prstGeom prst="ellipse">
            <a:avLst/>
          </a:prstGeom>
          <a:solidFill>
            <a:schemeClr val="accent5"/>
          </a:solidFill>
          <a:ln w="12700">
            <a:solidFill>
              <a:schemeClr val="accent5"/>
            </a:solidFill>
            <a:prstDash val="solid"/>
          </a:ln>
        </p:spPr>
      </p:sp>
      <p:pic>
        <p:nvPicPr>
          <p:cNvPr id="6" name="Biểu tượng Trình duyệt" descr="Biểu tượng Trình duyệt">    </p:cNvPr>
          <p:cNvPicPr>
            <a:picLocks noChangeAspect="1"/>
          </p:cNvPicPr>
          <p:nvPr/>
        </p:nvPicPr>
        <p:blipFill>
          <a:blip r:embed="rId1"/>
          <a:stretch>
            <a:fillRect/>
          </a:stretch>
        </p:blipFill>
        <p:spPr>
          <a:xfrm>
            <a:off x="1953158" y="2136038"/>
            <a:ext cx="482803" cy="482803"/>
          </a:xfrm>
          <a:prstGeom prst="rect">
            <a:avLst/>
          </a:prstGeom>
        </p:spPr>
      </p:pic>
      <p:sp>
        <p:nvSpPr>
          <p:cNvPr id="7" name="Text 3"/>
          <p:cNvSpPr txBox="1"/>
          <p:nvPr/>
        </p:nvSpPr>
        <p:spPr>
          <a:xfrm>
            <a:off x="731520" y="3017520"/>
            <a:ext cx="2926080" cy="411480"/>
          </a:xfrm>
          <a:prstGeom prst="rect">
            <a:avLst/>
          </a:prstGeom>
          <a:noFill/>
          <a:ln/>
        </p:spPr>
        <p:txBody>
          <a:bodyPr wrap="square" lIns="0" tIns="0" rIns="0" bIns="0" rtlCol="0" anchor="t"/>
          <a:lstStyle/>
          <a:p>
            <a:pPr algn="ctr" indent="0" marL="0">
              <a:buNone/>
            </a:pPr>
            <a:r>
              <a:rPr lang="en-US" sz="2000" b="1" dirty="0">
                <a:solidFill>
                  <a:schemeClr val="tx2"/>
                </a:solidFill>
              </a:rPr>
              <a:t>Trình duyệt</a:t>
            </a:r>
            <a:endParaRPr lang="en-US" sz="2000" dirty="0"/>
          </a:p>
        </p:txBody>
      </p:sp>
      <p:sp>
        <p:nvSpPr>
          <p:cNvPr id="8" name="Text 4"/>
          <p:cNvSpPr txBox="1"/>
          <p:nvPr/>
        </p:nvSpPr>
        <p:spPr>
          <a:xfrm>
            <a:off x="731520" y="3520440"/>
            <a:ext cx="2926080" cy="1188720"/>
          </a:xfrm>
          <a:prstGeom prst="rect">
            <a:avLst/>
          </a:prstGeom>
          <a:noFill/>
          <a:ln/>
        </p:spPr>
        <p:txBody>
          <a:bodyPr wrap="square" lIns="0" tIns="0" rIns="0" bIns="0" rtlCol="0" anchor="t"/>
          <a:lstStyle/>
          <a:p>
            <a:pPr algn="ctr" indent="0" marL="0">
              <a:buNone/>
            </a:pPr>
            <a:r>
              <a:rPr lang="en-US" sz="1400" dirty="0">
                <a:solidFill>
                  <a:schemeClr val="tx1"/>
                </a:solidFill>
              </a:rPr>
              <a:t>ArcGIS Maps SDK 4.29</a:t>
            </a:r>
            <a:endParaRPr lang="en-US" sz="1400" dirty="0"/>
          </a:p>
          <a:p>
            <a:pPr algn="ctr" indent="0" marL="0">
              <a:buNone/>
            </a:pPr>
            <a:r>
              <a:rPr lang="en-US" sz="1400" dirty="0">
                <a:solidFill>
                  <a:schemeClr val="tx1"/>
                </a:solidFill>
              </a:rPr>
              <a:t>SceneView · SketchViewModel</a:t>
            </a:r>
            <a:endParaRPr lang="en-US" sz="1400" dirty="0"/>
          </a:p>
          <a:p>
            <a:pPr algn="ctr" indent="0" marL="0">
              <a:buNone/>
            </a:pPr>
            <a:r>
              <a:rPr lang="en-US" sz="1400" dirty="0">
                <a:solidFill>
                  <a:schemeClr val="tx1"/>
                </a:solidFill>
              </a:rPr>
              <a:t>HTML/JS thuần · Geolocation API</a:t>
            </a:r>
            <a:endParaRPr lang="en-US" sz="1400" dirty="0"/>
          </a:p>
        </p:txBody>
      </p:sp>
      <p:sp>
        <p:nvSpPr>
          <p:cNvPr id="9" name="Mũi tên 1"/>
          <p:cNvSpPr/>
          <p:nvPr/>
        </p:nvSpPr>
        <p:spPr>
          <a:xfrm>
            <a:off x="3931920" y="2971800"/>
            <a:ext cx="411480" cy="457200"/>
          </a:xfrm>
          <a:prstGeom prst="rightArrow">
            <a:avLst/>
          </a:prstGeom>
          <a:solidFill>
            <a:srgbClr val="8C959F"/>
          </a:solidFill>
          <a:ln w="12700">
            <a:solidFill>
              <a:srgbClr val="8C959F"/>
            </a:solidFill>
            <a:prstDash val="solid"/>
          </a:ln>
        </p:spPr>
      </p:sp>
      <p:sp>
        <p:nvSpPr>
          <p:cNvPr id="10" name="Lớp Máy chủ"/>
          <p:cNvSpPr/>
          <p:nvPr/>
        </p:nvSpPr>
        <p:spPr>
          <a:xfrm>
            <a:off x="4434840" y="1554480"/>
            <a:ext cx="3291840" cy="3291840"/>
          </a:xfrm>
          <a:prstGeom prst="roundRect">
            <a:avLst>
              <a:gd name="adj" fmla="val 3333"/>
            </a:avLst>
          </a:prstGeom>
          <a:solidFill>
            <a:schemeClr val="bg2"/>
          </a:solidFill>
          <a:ln w="12700">
            <a:solidFill>
              <a:schemeClr val="bg2"/>
            </a:solidFill>
            <a:prstDash val="solid"/>
          </a:ln>
        </p:spPr>
      </p:sp>
      <p:sp>
        <p:nvSpPr>
          <p:cNvPr id="11" name="Biểu tượng Máy chủ (nền)"/>
          <p:cNvSpPr/>
          <p:nvPr/>
        </p:nvSpPr>
        <p:spPr>
          <a:xfrm>
            <a:off x="5577840" y="1874520"/>
            <a:ext cx="1005840" cy="1005840"/>
          </a:xfrm>
          <a:prstGeom prst="ellipse">
            <a:avLst/>
          </a:prstGeom>
          <a:solidFill>
            <a:schemeClr val="accent1"/>
          </a:solidFill>
          <a:ln w="12700">
            <a:solidFill>
              <a:schemeClr val="accent1"/>
            </a:solidFill>
            <a:prstDash val="solid"/>
          </a:ln>
        </p:spPr>
      </p:sp>
      <p:pic>
        <p:nvPicPr>
          <p:cNvPr id="12" name="Biểu tượng Máy chủ" descr="Biểu tượng Máy chủ">    </p:cNvPr>
          <p:cNvPicPr>
            <a:picLocks noChangeAspect="1"/>
          </p:cNvPicPr>
          <p:nvPr/>
        </p:nvPicPr>
        <p:blipFill>
          <a:blip r:embed="rId2"/>
          <a:stretch>
            <a:fillRect/>
          </a:stretch>
        </p:blipFill>
        <p:spPr>
          <a:xfrm>
            <a:off x="5839358" y="2136038"/>
            <a:ext cx="482803" cy="482803"/>
          </a:xfrm>
          <a:prstGeom prst="rect">
            <a:avLst/>
          </a:prstGeom>
        </p:spPr>
      </p:pic>
      <p:sp>
        <p:nvSpPr>
          <p:cNvPr id="13" name="Text 8"/>
          <p:cNvSpPr txBox="1"/>
          <p:nvPr/>
        </p:nvSpPr>
        <p:spPr>
          <a:xfrm>
            <a:off x="4617720" y="3017520"/>
            <a:ext cx="2926080" cy="411480"/>
          </a:xfrm>
          <a:prstGeom prst="rect">
            <a:avLst/>
          </a:prstGeom>
          <a:noFill/>
          <a:ln/>
        </p:spPr>
        <p:txBody>
          <a:bodyPr wrap="square" lIns="0" tIns="0" rIns="0" bIns="0" rtlCol="0" anchor="t"/>
          <a:lstStyle/>
          <a:p>
            <a:pPr algn="ctr" indent="0" marL="0">
              <a:buNone/>
            </a:pPr>
            <a:r>
              <a:rPr lang="en-US" sz="2000" b="1" dirty="0">
                <a:solidFill>
                  <a:schemeClr val="tx2"/>
                </a:solidFill>
              </a:rPr>
              <a:t>Máy chủ</a:t>
            </a:r>
            <a:endParaRPr lang="en-US" sz="2000" dirty="0"/>
          </a:p>
        </p:txBody>
      </p:sp>
      <p:sp>
        <p:nvSpPr>
          <p:cNvPr id="14" name="Text 9"/>
          <p:cNvSpPr txBox="1"/>
          <p:nvPr/>
        </p:nvSpPr>
        <p:spPr>
          <a:xfrm>
            <a:off x="4617720" y="3520440"/>
            <a:ext cx="2926080" cy="1188720"/>
          </a:xfrm>
          <a:prstGeom prst="rect">
            <a:avLst/>
          </a:prstGeom>
          <a:noFill/>
          <a:ln/>
        </p:spPr>
        <p:txBody>
          <a:bodyPr wrap="square" lIns="0" tIns="0" rIns="0" bIns="0" rtlCol="0" anchor="t"/>
          <a:lstStyle/>
          <a:p>
            <a:pPr algn="ctr" indent="0" marL="0">
              <a:buNone/>
            </a:pPr>
            <a:r>
              <a:rPr lang="en-US" sz="1400" dirty="0">
                <a:solidFill>
                  <a:schemeClr val="tx1"/>
                </a:solidFill>
              </a:rPr>
              <a:t>Node.js + Express 5</a:t>
            </a:r>
            <a:endParaRPr lang="en-US" sz="1400" dirty="0"/>
          </a:p>
          <a:p>
            <a:pPr algn="ctr" indent="0" marL="0">
              <a:buNone/>
            </a:pPr>
            <a:r>
              <a:rPr lang="en-US" sz="1400" dirty="0">
                <a:solidFill>
                  <a:schemeClr val="tx1"/>
                </a:solidFill>
              </a:rPr>
              <a:t>JWT · 3 vai trò</a:t>
            </a:r>
            <a:endParaRPr lang="en-US" sz="1400" dirty="0"/>
          </a:p>
          <a:p>
            <a:pPr algn="ctr" indent="0" marL="0">
              <a:buNone/>
            </a:pPr>
            <a:r>
              <a:rPr lang="en-US" sz="1400" dirty="0">
                <a:solidFill>
                  <a:schemeClr val="tx1"/>
                </a:solidFill>
              </a:rPr>
              <a:t>API chấm công + quản trị</a:t>
            </a:r>
            <a:endParaRPr lang="en-US" sz="1400" dirty="0"/>
          </a:p>
        </p:txBody>
      </p:sp>
      <p:sp>
        <p:nvSpPr>
          <p:cNvPr id="15" name="Mũi tên 2"/>
          <p:cNvSpPr/>
          <p:nvPr/>
        </p:nvSpPr>
        <p:spPr>
          <a:xfrm>
            <a:off x="7818120" y="2971800"/>
            <a:ext cx="411480" cy="457200"/>
          </a:xfrm>
          <a:prstGeom prst="rightArrow">
            <a:avLst/>
          </a:prstGeom>
          <a:solidFill>
            <a:srgbClr val="8C959F"/>
          </a:solidFill>
          <a:ln w="12700">
            <a:solidFill>
              <a:srgbClr val="8C959F"/>
            </a:solidFill>
            <a:prstDash val="solid"/>
          </a:ln>
        </p:spPr>
      </p:sp>
      <p:sp>
        <p:nvSpPr>
          <p:cNvPr id="16" name="Lớp CSDL không gian"/>
          <p:cNvSpPr/>
          <p:nvPr/>
        </p:nvSpPr>
        <p:spPr>
          <a:xfrm>
            <a:off x="8321040" y="1554480"/>
            <a:ext cx="3291840" cy="3291840"/>
          </a:xfrm>
          <a:prstGeom prst="roundRect">
            <a:avLst>
              <a:gd name="adj" fmla="val 3333"/>
            </a:avLst>
          </a:prstGeom>
          <a:solidFill>
            <a:schemeClr val="bg2"/>
          </a:solidFill>
          <a:ln w="12700">
            <a:solidFill>
              <a:schemeClr val="bg2"/>
            </a:solidFill>
            <a:prstDash val="solid"/>
          </a:ln>
        </p:spPr>
      </p:sp>
      <p:sp>
        <p:nvSpPr>
          <p:cNvPr id="17" name="Biểu tượng CSDL không gian (nền)"/>
          <p:cNvSpPr/>
          <p:nvPr/>
        </p:nvSpPr>
        <p:spPr>
          <a:xfrm>
            <a:off x="9464040" y="1874520"/>
            <a:ext cx="1005840" cy="1005840"/>
          </a:xfrm>
          <a:prstGeom prst="ellipse">
            <a:avLst/>
          </a:prstGeom>
          <a:solidFill>
            <a:schemeClr val="accent2"/>
          </a:solidFill>
          <a:ln w="12700">
            <a:solidFill>
              <a:schemeClr val="accent2"/>
            </a:solidFill>
            <a:prstDash val="solid"/>
          </a:ln>
        </p:spPr>
      </p:sp>
      <p:pic>
        <p:nvPicPr>
          <p:cNvPr id="18" name="Biểu tượng CSDL không gian" descr="Biểu tượng CSDL không gian">    </p:cNvPr>
          <p:cNvPicPr>
            <a:picLocks noChangeAspect="1"/>
          </p:cNvPicPr>
          <p:nvPr/>
        </p:nvPicPr>
        <p:blipFill>
          <a:blip r:embed="rId3"/>
          <a:stretch>
            <a:fillRect/>
          </a:stretch>
        </p:blipFill>
        <p:spPr>
          <a:xfrm>
            <a:off x="9725558" y="2136038"/>
            <a:ext cx="482803" cy="482803"/>
          </a:xfrm>
          <a:prstGeom prst="rect">
            <a:avLst/>
          </a:prstGeom>
        </p:spPr>
      </p:pic>
      <p:sp>
        <p:nvSpPr>
          <p:cNvPr id="19" name="Text 13"/>
          <p:cNvSpPr txBox="1"/>
          <p:nvPr/>
        </p:nvSpPr>
        <p:spPr>
          <a:xfrm>
            <a:off x="8503920" y="3017520"/>
            <a:ext cx="2926080" cy="411480"/>
          </a:xfrm>
          <a:prstGeom prst="rect">
            <a:avLst/>
          </a:prstGeom>
          <a:noFill/>
          <a:ln/>
        </p:spPr>
        <p:txBody>
          <a:bodyPr wrap="square" lIns="0" tIns="0" rIns="0" bIns="0" rtlCol="0" anchor="t"/>
          <a:lstStyle/>
          <a:p>
            <a:pPr algn="ctr" indent="0" marL="0">
              <a:buNone/>
            </a:pPr>
            <a:r>
              <a:rPr lang="en-US" sz="2000" b="1" dirty="0">
                <a:solidFill>
                  <a:schemeClr val="tx2"/>
                </a:solidFill>
              </a:rPr>
              <a:t>CSDL không gian</a:t>
            </a:r>
            <a:endParaRPr lang="en-US" sz="2000" dirty="0"/>
          </a:p>
        </p:txBody>
      </p:sp>
      <p:sp>
        <p:nvSpPr>
          <p:cNvPr id="20" name="Text 14"/>
          <p:cNvSpPr txBox="1"/>
          <p:nvPr/>
        </p:nvSpPr>
        <p:spPr>
          <a:xfrm>
            <a:off x="8503920" y="3520440"/>
            <a:ext cx="2926080" cy="1188720"/>
          </a:xfrm>
          <a:prstGeom prst="rect">
            <a:avLst/>
          </a:prstGeom>
          <a:noFill/>
          <a:ln/>
        </p:spPr>
        <p:txBody>
          <a:bodyPr wrap="square" lIns="0" tIns="0" rIns="0" bIns="0" rtlCol="0" anchor="t"/>
          <a:lstStyle/>
          <a:p>
            <a:pPr algn="ctr" indent="0" marL="0">
              <a:buNone/>
            </a:pPr>
            <a:r>
              <a:rPr lang="en-US" sz="1400" dirty="0">
                <a:solidFill>
                  <a:schemeClr val="tx1"/>
                </a:solidFill>
              </a:rPr>
              <a:t>PostgreSQL 17 + PostGIS 3.5</a:t>
            </a:r>
            <a:endParaRPr lang="en-US" sz="1400" dirty="0"/>
          </a:p>
          <a:p>
            <a:pPr algn="ctr" indent="0" marL="0">
              <a:buNone/>
            </a:pPr>
            <a:r>
              <a:rPr lang="en-US" sz="1400" dirty="0">
                <a:solidFill>
                  <a:schemeClr val="tx1"/>
                </a:solidFill>
              </a:rPr>
              <a:t>kiem_tra_bao_ham() · kiem_tra_r2()</a:t>
            </a:r>
            <a:endParaRPr lang="en-US" sz="1400" dirty="0"/>
          </a:p>
          <a:p>
            <a:pPr algn="ctr" indent="0" marL="0">
              <a:buNone/>
            </a:pPr>
            <a:r>
              <a:rPr lang="en-US" sz="1400" dirty="0">
                <a:solidFill>
                  <a:schemeClr val="tx1"/>
                </a:solidFill>
              </a:rPr>
              <a:t>trigger · ssm_cua_khoi()</a:t>
            </a:r>
            <a:endParaRPr lang="en-US" sz="1400" dirty="0"/>
          </a:p>
        </p:txBody>
      </p:sp>
      <p:sp>
        <p:nvSpPr>
          <p:cNvPr id="21" name="Text 15"/>
          <p:cNvSpPr txBox="1"/>
          <p:nvPr/>
        </p:nvSpPr>
        <p:spPr>
          <a:xfrm>
            <a:off x="548640" y="5166360"/>
            <a:ext cx="11064240" cy="914400"/>
          </a:xfrm>
          <a:prstGeom prst="rect">
            <a:avLst/>
          </a:prstGeom>
          <a:noFill/>
          <a:ln/>
        </p:spPr>
        <p:txBody>
          <a:bodyPr wrap="square" lIns="0" tIns="0" rIns="0" bIns="0" rtlCol="0" anchor="t"/>
          <a:lstStyle/>
          <a:p>
            <a:pPr indent="0" marL="0">
              <a:buNone/>
            </a:pPr>
            <a:r>
              <a:rPr lang="en-US" sz="1500" b="1" dirty="0">
                <a:solidFill>
                  <a:schemeClr val="tx2"/>
                </a:solidFill>
              </a:rPr>
              <a:t>Một cổng duy nhất </a:t>
            </a:r>
            <a:pPr indent="0" marL="0">
              <a:buNone/>
            </a:pPr>
            <a:r>
              <a:rPr lang="en-US" sz="1500" dirty="0">
                <a:solidFill>
                  <a:schemeClr val="tx1"/>
                </a:solidFill>
              </a:rPr>
              <a:t>— máy chủ phục vụ luôn giao diện web, vì Geolocation API chỉ cấp quyền trên HTTPS hoặc localhost. </a:t>
            </a:r>
            <a:pPr indent="0" marL="0">
              <a:buNone/>
            </a:pPr>
            <a:r>
              <a:rPr lang="en-US" sz="1500" b="1" dirty="0">
                <a:solidFill>
                  <a:schemeClr val="tx2"/>
                </a:solidFill>
              </a:rPr>
              <a:t>Logic không gian và ràng buộc đặt trong CSDL, </a:t>
            </a:r>
            <a:pPr indent="0" marL="0">
              <a:buNone/>
            </a:pPr>
            <a:r>
              <a:rPr lang="en-US" sz="1500" dirty="0">
                <a:solidFill>
                  <a:schemeClr val="tx1"/>
                </a:solidFill>
              </a:rPr>
              <a:t>cạnh dữ liệu: một bản duy nhất, sửa bằng giao diện hay SQL đều được kiểm tra.</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94415" cy="777240"/>
          </a:xfrm>
          <a:prstGeom prst="rect">
            <a:avLst/>
          </a:prstGeom>
          <a:noFill/>
          <a:ln/>
        </p:spPr>
        <p:txBody>
          <a:bodyPr wrap="square"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LOD3 để hiển thị, LOD1 để tính toán</a:t>
            </a:r>
            <a:endParaRPr lang="en-US" sz="3200" dirty="0"/>
          </a:p>
        </p:txBody>
      </p:sp>
      <p:pic>
        <p:nvPicPr>
          <p:cNvPr id="4" name="Toà nhà dựng ở LOD3" descr="Toà nhà dựng ở LOD3">    </p:cNvPr>
          <p:cNvPicPr>
            <a:picLocks noChangeAspect="1"/>
          </p:cNvPicPr>
          <p:nvPr/>
        </p:nvPicPr>
        <p:blipFill>
          <a:blip r:embed="rId1"/>
          <a:stretch>
            <a:fillRect/>
          </a:stretch>
        </p:blipFill>
        <p:spPr>
          <a:xfrm>
            <a:off x="548640" y="1828800"/>
            <a:ext cx="5440680" cy="2694821"/>
          </a:xfrm>
          <a:prstGeom prst="rect">
            <a:avLst/>
          </a:prstGeom>
          <a:effectLst>
            <a:outerShdw sx="100000" sy="100000" kx="0" ky="0" algn="bl" rotWithShape="0" blurRad="76200" dist="25400" dir="5400000">
              <a:srgbClr val="000000">
                <a:alpha val="18000"/>
              </a:srgbClr>
            </a:outerShdw>
          </a:effectLst>
        </p:spPr>
      </p:pic>
      <p:pic>
        <p:nvPicPr>
          <p:cNvPr id="5" name="Toà nhà dựng ở LOD1" descr="Toà nhà dựng ở LOD1">    </p:cNvPr>
          <p:cNvPicPr>
            <a:picLocks noChangeAspect="1"/>
          </p:cNvPicPr>
          <p:nvPr/>
        </p:nvPicPr>
        <p:blipFill>
          <a:blip r:embed="rId2"/>
          <a:stretch>
            <a:fillRect/>
          </a:stretch>
        </p:blipFill>
        <p:spPr>
          <a:xfrm>
            <a:off x="6199632" y="1828800"/>
            <a:ext cx="5440680" cy="2694821"/>
          </a:xfrm>
          <a:prstGeom prst="rect">
            <a:avLst/>
          </a:prstGeom>
          <a:effectLst>
            <a:outerShdw sx="100000" sy="100000" kx="0" ky="0" algn="bl" rotWithShape="0" blurRad="76200" dist="25400" dir="5400000">
              <a:srgbClr val="000000">
                <a:alpha val="18000"/>
              </a:srgbClr>
            </a:outerShdw>
          </a:effectLst>
        </p:spPr>
      </p:pic>
      <p:sp>
        <p:nvSpPr>
          <p:cNvPr id="6" name="Text 1"/>
          <p:cNvSpPr txBox="1"/>
          <p:nvPr/>
        </p:nvSpPr>
        <p:spPr>
          <a:xfrm>
            <a:off x="548640" y="1325880"/>
            <a:ext cx="5440680" cy="365760"/>
          </a:xfrm>
          <a:prstGeom prst="rect">
            <a:avLst/>
          </a:prstGeom>
          <a:noFill/>
          <a:ln/>
        </p:spPr>
        <p:txBody>
          <a:bodyPr wrap="square" lIns="0" tIns="0" rIns="0" bIns="0" rtlCol="0" anchor="t"/>
          <a:lstStyle/>
          <a:p>
            <a:pPr indent="0" marL="0">
              <a:buNone/>
            </a:pPr>
            <a:r>
              <a:rPr lang="en-US" sz="1700" b="1" dirty="0">
                <a:solidFill>
                  <a:schemeClr val="accent1"/>
                </a:solidFill>
              </a:rPr>
              <a:t>LOD3 — kiến trúc mặt ngoài</a:t>
            </a:r>
            <a:endParaRPr lang="en-US" sz="1700" dirty="0"/>
          </a:p>
        </p:txBody>
      </p:sp>
      <p:sp>
        <p:nvSpPr>
          <p:cNvPr id="7" name="Text 2"/>
          <p:cNvSpPr txBox="1"/>
          <p:nvPr/>
        </p:nvSpPr>
        <p:spPr>
          <a:xfrm>
            <a:off x="6199632" y="1325880"/>
            <a:ext cx="5440680" cy="365760"/>
          </a:xfrm>
          <a:prstGeom prst="rect">
            <a:avLst/>
          </a:prstGeom>
          <a:noFill/>
          <a:ln/>
        </p:spPr>
        <p:txBody>
          <a:bodyPr wrap="square" lIns="0" tIns="0" rIns="0" bIns="0" rtlCol="0" anchor="t"/>
          <a:lstStyle/>
          <a:p>
            <a:pPr indent="0" marL="0">
              <a:buNone/>
            </a:pPr>
            <a:r>
              <a:rPr lang="en-US" sz="1700" b="1" dirty="0">
                <a:solidFill>
                  <a:schemeClr val="tx2"/>
                </a:solidFill>
              </a:rPr>
              <a:t>LOD1 — khối đùn trơn</a:t>
            </a:r>
            <a:endParaRPr lang="en-US" sz="1700" dirty="0"/>
          </a:p>
        </p:txBody>
      </p:sp>
      <p:sp>
        <p:nvSpPr>
          <p:cNvPr id="8" name="Text 3"/>
          <p:cNvSpPr txBox="1"/>
          <p:nvPr/>
        </p:nvSpPr>
        <p:spPr>
          <a:xfrm>
            <a:off x="548640" y="4706501"/>
            <a:ext cx="5440680" cy="640080"/>
          </a:xfrm>
          <a:prstGeom prst="rect">
            <a:avLst/>
          </a:prstGeom>
          <a:noFill/>
          <a:ln/>
        </p:spPr>
        <p:txBody>
          <a:bodyPr wrap="square" lIns="0" tIns="0" rIns="0" bIns="0" rtlCol="0" anchor="t"/>
          <a:lstStyle/>
          <a:p>
            <a:pPr indent="0" marL="0">
              <a:buNone/>
            </a:pPr>
            <a:r>
              <a:rPr lang="en-US" sz="1500" dirty="0">
                <a:solidFill>
                  <a:srgbClr val="57606A"/>
                </a:solidFill>
              </a:rPr>
              <a:t>Khối đế, vách kính, dầm từng tầng, khung đứng, lối vào, mái — lồng bên trong là ba khối MAP</a:t>
            </a:r>
            <a:endParaRPr lang="en-US" sz="1500" dirty="0"/>
          </a:p>
        </p:txBody>
      </p:sp>
      <p:sp>
        <p:nvSpPr>
          <p:cNvPr id="9" name="Text 4"/>
          <p:cNvSpPr txBox="1"/>
          <p:nvPr/>
        </p:nvSpPr>
        <p:spPr>
          <a:xfrm>
            <a:off x="6199632" y="4706501"/>
            <a:ext cx="5440680" cy="640080"/>
          </a:xfrm>
          <a:prstGeom prst="rect">
            <a:avLst/>
          </a:prstGeom>
          <a:noFill/>
          <a:ln/>
        </p:spPr>
        <p:txBody>
          <a:bodyPr wrap="square" lIns="0" tIns="0" rIns="0" bIns="0" rtlCol="0" anchor="t"/>
          <a:lstStyle/>
          <a:p>
            <a:pPr indent="0" marL="0">
              <a:buNone/>
            </a:pPr>
            <a:r>
              <a:rPr lang="en-US" sz="1500" dirty="0">
                <a:solidFill>
                  <a:srgbClr val="57606A"/>
                </a:solidFill>
              </a:rPr>
              <a:t>Phép kiểm tra bao hàm chỉ cần đa giác nền và dải cao độ — chi tiết mặt dựng không đổi kết quả</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94415" cy="777240"/>
          </a:xfrm>
          <a:prstGeom prst="rect">
            <a:avLst/>
          </a:prstGeom>
          <a:noFill/>
          <a:ln/>
        </p:spPr>
        <p:txBody>
          <a:bodyPr wrap="square"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Thành phần LOD3 theo CityGML</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949440" cy="914400"/>
        </p:xfrm>
        <a:graphic>
          <a:graphicData uri="http://schemas.openxmlformats.org/drawingml/2006/table">
            <a:tbl>
              <a:tblPr/>
              <a:tblGrid>
                <a:gridCol w="4754880"/>
                <a:gridCol w="2194560"/>
              </a:tblGrid>
              <a:tr h="658368">
                <a:tc>
                  <a:txBody>
                    <a:bodyPr/>
                    <a:lstStyle/>
                    <a:p>
                      <a:pPr indent="0" marL="0">
                        <a:buNone/>
                      </a:pPr>
                      <a:r>
                        <a:rPr lang="en-US" sz="1400" b="1" dirty="0">
                          <a:solidFill>
                            <a:schemeClr val="bg1"/>
                          </a:solidFill>
                        </a:rPr>
                        <a:t>Thành phần (sinh tự động từ CSDL)</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Lớp CityGML</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tx2"/>
                    </a:solidFill>
                  </a:tcPr>
                </a:tc>
              </a:tr>
              <a:tr h="658368">
                <a:tc>
                  <a:txBody>
                    <a:bodyPr/>
                    <a:lstStyle/>
                    <a:p>
                      <a:pPr indent="0" marL="0">
                        <a:buNone/>
                      </a:pPr>
                      <a:r>
                        <a:rPr lang="en-US" sz="1400" dirty="0">
                          <a:solidFill>
                            <a:schemeClr val="tx1"/>
                          </a:solidFill>
                        </a:rPr>
                        <a:t>Băng tường đá khối đế, dầm biên từng tầng, tường chắn mái</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WallSurface</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2"/>
                    </a:solidFill>
                  </a:tcPr>
                </a:tc>
              </a:tr>
              <a:tr h="658368">
                <a:tc>
                  <a:txBody>
                    <a:bodyPr/>
                    <a:lstStyle/>
                    <a:p>
                      <a:pPr indent="0" marL="0">
                        <a:buNone/>
                      </a:pPr>
                      <a:r>
                        <a:rPr lang="en-US" sz="1400" dirty="0">
                          <a:solidFill>
                            <a:schemeClr val="tx1"/>
                          </a:solidFill>
                        </a:rPr>
                        <a:t>Băng cửa kính khối đế, vách kính thân tháp</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Window</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1"/>
                    </a:solidFill>
                  </a:tcPr>
                </a:tc>
              </a:tr>
              <a:tr h="658368">
                <a:tc>
                  <a:txBody>
                    <a:bodyPr/>
                    <a:lstStyle/>
                    <a:p>
                      <a:pPr indent="0" marL="0">
                        <a:buNone/>
                      </a:pPr>
                      <a:r>
                        <a:rPr lang="en-US" sz="1400" dirty="0">
                          <a:solidFill>
                            <a:schemeClr val="tx1"/>
                          </a:solidFill>
                        </a:rPr>
                        <a:t>Cửa xoay, hai cửa kính sảnh (giữa cạnh dài nhất)</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Door</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2"/>
                    </a:solidFill>
                  </a:tcPr>
                </a:tc>
              </a:tr>
              <a:tr h="658368">
                <a:tc>
                  <a:txBody>
                    <a:bodyPr/>
                    <a:lstStyle/>
                    <a:p>
                      <a:pPr indent="0" marL="0">
                        <a:buNone/>
                      </a:pPr>
                      <a:r>
                        <a:rPr lang="en-US" sz="1400" dirty="0">
                          <a:solidFill>
                            <a:schemeClr val="tx1"/>
                          </a:solidFill>
                        </a:rPr>
                        <a:t>Mái khối đế, sàn mái tum, sân đỗ trực thăng</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RoofSurface</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1"/>
                    </a:solidFill>
                  </a:tcPr>
                </a:tc>
              </a:tr>
              <a:tr h="658368">
                <a:tc>
                  <a:txBody>
                    <a:bodyPr/>
                    <a:lstStyle/>
                    <a:p>
                      <a:pPr indent="0" marL="0">
                        <a:buNone/>
                      </a:pPr>
                      <a:r>
                        <a:rPr lang="en-US" sz="1400" dirty="0">
                          <a:solidFill>
                            <a:schemeClr val="tx1"/>
                          </a:solidFill>
                        </a:rPr>
                        <a:t>Khung nhôm, mái sảnh, cột, tum kỹ thuật, thiết bị mái</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BuildingInstallation</a:t>
                      </a:r>
                      <a:endParaRPr lang="en-US" sz="14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2"/>
                    </a:solidFill>
                  </a:tcPr>
                </a:tc>
              </a:tr>
            </a:tbl>
          </a:graphicData>
        </a:graphic>
      </p:graphicFrame>
      <p:sp>
        <p:nvSpPr>
          <p:cNvPr id="5" name="Text 1"/>
          <p:cNvSpPr txBox="1"/>
          <p:nvPr/>
        </p:nvSpPr>
        <p:spPr>
          <a:xfrm>
            <a:off x="548640" y="5486400"/>
            <a:ext cx="6949440" cy="685800"/>
          </a:xfrm>
          <a:prstGeom prst="rect">
            <a:avLst/>
          </a:prstGeom>
          <a:noFill/>
          <a:ln/>
        </p:spPr>
        <p:txBody>
          <a:bodyPr wrap="square" lIns="0" tIns="0" rIns="0" bIns="0" rtlCol="0" anchor="t"/>
          <a:lstStyle/>
          <a:p>
            <a:pPr indent="0" marL="0">
              <a:buNone/>
            </a:pPr>
            <a:r>
              <a:rPr lang="en-US" sz="1400" i="1" dirty="0">
                <a:solidFill>
                  <a:srgbClr val="57606A"/>
                </a:solidFill>
              </a:rPr>
              <a:t>Đầu vào: footprint · cao độ nền · số tầng · chiều cao tầng · số tầng đế. Thêm toà nhà mới là tự có LOD3; bấm vào thành phần nào cũng hiện lớp của nó.</a:t>
            </a:r>
            <a:endParaRPr lang="en-US" sz="1400" dirty="0"/>
          </a:p>
        </p:txBody>
      </p:sp>
      <p:pic>
        <p:nvPicPr>
          <p:cNvPr id="6" name="Cận cảnh toà nhà LOD3" descr="Cận cảnh toà nhà LOD3">    </p:cNvPr>
          <p:cNvPicPr>
            <a:picLocks noChangeAspect="1"/>
          </p:cNvPicPr>
          <p:nvPr/>
        </p:nvPicPr>
        <p:blipFill>
          <a:blip r:embed="rId1"/>
          <a:stretch>
            <a:fillRect/>
          </a:stretch>
        </p:blipFill>
        <p:spPr>
          <a:xfrm>
            <a:off x="8743369" y="1280160"/>
            <a:ext cx="1989982" cy="489204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94415" cy="777240"/>
          </a:xfrm>
          <a:prstGeom prst="rect">
            <a:avLst/>
          </a:prstGeom>
          <a:noFill/>
          <a:ln/>
        </p:spPr>
        <p:txBody>
          <a:bodyPr wrap="square"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Quản trị: thêm, sửa, xoá dữ liệu nền</a:t>
            </a:r>
            <a:endParaRPr lang="en-US" sz="3200" dirty="0"/>
          </a:p>
        </p:txBody>
      </p:sp>
      <p:pic>
        <p:nvPicPr>
          <p:cNvPr id="4" name="Tab Quản trị đang sửa khối MAP" descr="Tab Quản trị đang sửa khối MAP">    </p:cNvPr>
          <p:cNvPicPr>
            <a:picLocks noChangeAspect="1"/>
          </p:cNvPicPr>
          <p:nvPr/>
        </p:nvPicPr>
        <p:blipFill>
          <a:blip r:embed="rId1"/>
          <a:stretch>
            <a:fillRect/>
          </a:stretch>
        </p:blipFill>
        <p:spPr>
          <a:xfrm>
            <a:off x="548640" y="1785529"/>
            <a:ext cx="7680960" cy="3835581"/>
          </a:xfrm>
          <a:prstGeom prst="rect">
            <a:avLst/>
          </a:prstGeom>
          <a:effectLst>
            <a:outerShdw sx="100000" sy="100000" kx="0" ky="0" algn="bl" rotWithShape="0" blurRad="76200" dist="25400" dir="5400000">
              <a:srgbClr val="000000">
                <a:alpha val="18000"/>
              </a:srgbClr>
            </a:outerShdw>
          </a:effectLst>
        </p:spPr>
      </p:pic>
      <p:sp>
        <p:nvSpPr>
          <p:cNvPr id="5" name="Điểm 1"/>
          <p:cNvSpPr/>
          <p:nvPr/>
        </p:nvSpPr>
        <p:spPr>
          <a:xfrm>
            <a:off x="8458200" y="1325880"/>
            <a:ext cx="3200400" cy="1417320"/>
          </a:xfrm>
          <a:prstGeom prst="roundRect">
            <a:avLst>
              <a:gd name="adj" fmla="val 7742"/>
            </a:avLst>
          </a:prstGeom>
          <a:solidFill>
            <a:schemeClr val="bg2"/>
          </a:solidFill>
          <a:ln w="12700">
            <a:solidFill>
              <a:schemeClr val="bg2"/>
            </a:solidFill>
            <a:prstDash val="solid"/>
          </a:ln>
        </p:spPr>
      </p:sp>
      <p:sp>
        <p:nvSpPr>
          <p:cNvPr id="6" name="Biểu tượng 6 loại dữ liệu (nền)"/>
          <p:cNvSpPr/>
          <p:nvPr/>
        </p:nvSpPr>
        <p:spPr>
          <a:xfrm>
            <a:off x="8641080" y="1508760"/>
            <a:ext cx="548640" cy="548640"/>
          </a:xfrm>
          <a:prstGeom prst="ellipse">
            <a:avLst/>
          </a:prstGeom>
          <a:solidFill>
            <a:schemeClr val="accent5"/>
          </a:solidFill>
          <a:ln w="12700">
            <a:solidFill>
              <a:schemeClr val="accent5"/>
            </a:solidFill>
            <a:prstDash val="solid"/>
          </a:ln>
        </p:spPr>
      </p:sp>
      <p:pic>
        <p:nvPicPr>
          <p:cNvPr id="7" name="Biểu tượng 6 loại dữ liệu" descr="Biểu tượng 6 loại dữ liệu">    </p:cNvPr>
          <p:cNvPicPr>
            <a:picLocks noChangeAspect="1"/>
          </p:cNvPicPr>
          <p:nvPr/>
        </p:nvPicPr>
        <p:blipFill>
          <a:blip r:embed="rId2"/>
          <a:stretch>
            <a:fillRect/>
          </a:stretch>
        </p:blipFill>
        <p:spPr>
          <a:xfrm>
            <a:off x="8783726" y="1651406"/>
            <a:ext cx="263347" cy="263347"/>
          </a:xfrm>
          <a:prstGeom prst="rect">
            <a:avLst/>
          </a:prstGeom>
        </p:spPr>
      </p:pic>
      <p:sp>
        <p:nvSpPr>
          <p:cNvPr id="8" name="Text 3"/>
          <p:cNvSpPr txBox="1"/>
          <p:nvPr/>
        </p:nvSpPr>
        <p:spPr>
          <a:xfrm>
            <a:off x="9326880" y="1572768"/>
            <a:ext cx="2240280" cy="411480"/>
          </a:xfrm>
          <a:prstGeom prst="rect">
            <a:avLst/>
          </a:prstGeom>
          <a:noFill/>
          <a:ln/>
        </p:spPr>
        <p:txBody>
          <a:bodyPr wrap="square" lIns="0" tIns="0" rIns="0" bIns="0" rtlCol="0" anchor="t"/>
          <a:lstStyle/>
          <a:p>
            <a:pPr indent="0" marL="0">
              <a:buNone/>
            </a:pPr>
            <a:r>
              <a:rPr lang="en-US" sz="1600" b="1" dirty="0">
                <a:solidFill>
                  <a:schemeClr val="tx2"/>
                </a:solidFill>
              </a:rPr>
              <a:t>6 loại dữ liệu</a:t>
            </a:r>
            <a:endParaRPr lang="en-US" sz="1600" dirty="0"/>
          </a:p>
        </p:txBody>
      </p:sp>
      <p:sp>
        <p:nvSpPr>
          <p:cNvPr id="9" name="Text 4"/>
          <p:cNvSpPr txBox="1"/>
          <p:nvPr/>
        </p:nvSpPr>
        <p:spPr>
          <a:xfrm>
            <a:off x="8641080" y="2103120"/>
            <a:ext cx="2880360" cy="594360"/>
          </a:xfrm>
          <a:prstGeom prst="rect">
            <a:avLst/>
          </a:prstGeom>
          <a:noFill/>
          <a:ln/>
        </p:spPr>
        <p:txBody>
          <a:bodyPr wrap="square" lIns="0" tIns="0" rIns="0" bIns="0" rtlCol="0" anchor="t"/>
          <a:lstStyle/>
          <a:p>
            <a:pPr indent="0" marL="0">
              <a:buNone/>
            </a:pPr>
            <a:r>
              <a:rPr lang="en-US" sz="1250" dirty="0">
                <a:solidFill>
                  <a:schemeClr val="tx1"/>
                </a:solidFill>
              </a:rPr>
              <a:t>toà nhà · văn phòng &amp; khối MAP · nhân viên · ca · công ty · phòng ban</a:t>
            </a:r>
            <a:endParaRPr lang="en-US" sz="1250" dirty="0"/>
          </a:p>
        </p:txBody>
      </p:sp>
      <p:sp>
        <p:nvSpPr>
          <p:cNvPr id="10" name="Điểm 2"/>
          <p:cNvSpPr/>
          <p:nvPr/>
        </p:nvSpPr>
        <p:spPr>
          <a:xfrm>
            <a:off x="8458200" y="2926080"/>
            <a:ext cx="3200400" cy="1417320"/>
          </a:xfrm>
          <a:prstGeom prst="roundRect">
            <a:avLst>
              <a:gd name="adj" fmla="val 7742"/>
            </a:avLst>
          </a:prstGeom>
          <a:solidFill>
            <a:schemeClr val="bg2"/>
          </a:solidFill>
          <a:ln w="12700">
            <a:solidFill>
              <a:schemeClr val="bg2"/>
            </a:solidFill>
            <a:prstDash val="solid"/>
          </a:ln>
        </p:spPr>
      </p:sp>
      <p:sp>
        <p:nvSpPr>
          <p:cNvPr id="11" name="Biểu tượng Vẽ trên bản đồ 3D (nền)"/>
          <p:cNvSpPr/>
          <p:nvPr/>
        </p:nvSpPr>
        <p:spPr>
          <a:xfrm>
            <a:off x="8641080" y="3108960"/>
            <a:ext cx="548640" cy="548640"/>
          </a:xfrm>
          <a:prstGeom prst="ellipse">
            <a:avLst/>
          </a:prstGeom>
          <a:solidFill>
            <a:schemeClr val="accent1"/>
          </a:solidFill>
          <a:ln w="12700">
            <a:solidFill>
              <a:schemeClr val="accent1"/>
            </a:solidFill>
            <a:prstDash val="solid"/>
          </a:ln>
        </p:spPr>
      </p:sp>
      <p:pic>
        <p:nvPicPr>
          <p:cNvPr id="12" name="Biểu tượng Vẽ trên bản đồ 3D" descr="Biểu tượng Vẽ trên bản đồ 3D">    </p:cNvPr>
          <p:cNvPicPr>
            <a:picLocks noChangeAspect="1"/>
          </p:cNvPicPr>
          <p:nvPr/>
        </p:nvPicPr>
        <p:blipFill>
          <a:blip r:embed="rId3"/>
          <a:stretch>
            <a:fillRect/>
          </a:stretch>
        </p:blipFill>
        <p:spPr>
          <a:xfrm>
            <a:off x="8783726" y="3251606"/>
            <a:ext cx="263347" cy="263347"/>
          </a:xfrm>
          <a:prstGeom prst="rect">
            <a:avLst/>
          </a:prstGeom>
        </p:spPr>
      </p:pic>
      <p:sp>
        <p:nvSpPr>
          <p:cNvPr id="13" name="Text 7"/>
          <p:cNvSpPr txBox="1"/>
          <p:nvPr/>
        </p:nvSpPr>
        <p:spPr>
          <a:xfrm>
            <a:off x="9326880" y="3172968"/>
            <a:ext cx="2240280" cy="411480"/>
          </a:xfrm>
          <a:prstGeom prst="rect">
            <a:avLst/>
          </a:prstGeom>
          <a:noFill/>
          <a:ln/>
        </p:spPr>
        <p:txBody>
          <a:bodyPr wrap="square" lIns="0" tIns="0" rIns="0" bIns="0" rtlCol="0" anchor="t"/>
          <a:lstStyle/>
          <a:p>
            <a:pPr indent="0" marL="0">
              <a:buNone/>
            </a:pPr>
            <a:r>
              <a:rPr lang="en-US" sz="1600" b="1" dirty="0">
                <a:solidFill>
                  <a:schemeClr val="tx2"/>
                </a:solidFill>
              </a:rPr>
              <a:t>Vẽ trên bản đồ 3D</a:t>
            </a:r>
            <a:endParaRPr lang="en-US" sz="1600" dirty="0"/>
          </a:p>
        </p:txBody>
      </p:sp>
      <p:sp>
        <p:nvSpPr>
          <p:cNvPr id="14" name="Text 8"/>
          <p:cNvSpPr txBox="1"/>
          <p:nvPr/>
        </p:nvSpPr>
        <p:spPr>
          <a:xfrm>
            <a:off x="8641080" y="3703320"/>
            <a:ext cx="2880360" cy="594360"/>
          </a:xfrm>
          <a:prstGeom prst="rect">
            <a:avLst/>
          </a:prstGeom>
          <a:noFill/>
          <a:ln/>
        </p:spPr>
        <p:txBody>
          <a:bodyPr wrap="square" lIns="0" tIns="0" rIns="0" bIns="0" rtlCol="0" anchor="t"/>
          <a:lstStyle/>
          <a:p>
            <a:pPr indent="0" marL="0">
              <a:buNone/>
            </a:pPr>
            <a:r>
              <a:rPr lang="en-US" sz="1250" dirty="0">
                <a:solidFill>
                  <a:schemeClr val="tx1"/>
                </a:solidFill>
              </a:rPr>
              <a:t>footprint và đa giác khối bằng SketchViewModel, xem trước ngay</a:t>
            </a:r>
            <a:endParaRPr lang="en-US" sz="1250" dirty="0"/>
          </a:p>
        </p:txBody>
      </p:sp>
      <p:sp>
        <p:nvSpPr>
          <p:cNvPr id="15" name="Điểm 3"/>
          <p:cNvSpPr/>
          <p:nvPr/>
        </p:nvSpPr>
        <p:spPr>
          <a:xfrm>
            <a:off x="8458200" y="4526280"/>
            <a:ext cx="3200400" cy="1417320"/>
          </a:xfrm>
          <a:prstGeom prst="roundRect">
            <a:avLst>
              <a:gd name="adj" fmla="val 7742"/>
            </a:avLst>
          </a:prstGeom>
          <a:solidFill>
            <a:schemeClr val="bg2"/>
          </a:solidFill>
          <a:ln w="12700">
            <a:solidFill>
              <a:schemeClr val="bg2"/>
            </a:solidFill>
            <a:prstDash val="solid"/>
          </a:ln>
        </p:spPr>
      </p:sp>
      <p:sp>
        <p:nvSpPr>
          <p:cNvPr id="16" name="Biểu tượng CSDL tự chặn (nền)"/>
          <p:cNvSpPr/>
          <p:nvPr/>
        </p:nvSpPr>
        <p:spPr>
          <a:xfrm>
            <a:off x="8641080" y="4709160"/>
            <a:ext cx="548640" cy="548640"/>
          </a:xfrm>
          <a:prstGeom prst="ellipse">
            <a:avLst/>
          </a:prstGeom>
          <a:solidFill>
            <a:schemeClr val="accent4"/>
          </a:solidFill>
          <a:ln w="12700">
            <a:solidFill>
              <a:schemeClr val="accent4"/>
            </a:solidFill>
            <a:prstDash val="solid"/>
          </a:ln>
        </p:spPr>
      </p:sp>
      <p:pic>
        <p:nvPicPr>
          <p:cNvPr id="17" name="Biểu tượng CSDL tự chặn" descr="Biểu tượng CSDL tự chặn">    </p:cNvPr>
          <p:cNvPicPr>
            <a:picLocks noChangeAspect="1"/>
          </p:cNvPicPr>
          <p:nvPr/>
        </p:nvPicPr>
        <p:blipFill>
          <a:blip r:embed="rId4"/>
          <a:stretch>
            <a:fillRect/>
          </a:stretch>
        </p:blipFill>
        <p:spPr>
          <a:xfrm>
            <a:off x="8783726" y="4851806"/>
            <a:ext cx="263347" cy="263347"/>
          </a:xfrm>
          <a:prstGeom prst="rect">
            <a:avLst/>
          </a:prstGeom>
        </p:spPr>
      </p:pic>
      <p:sp>
        <p:nvSpPr>
          <p:cNvPr id="18" name="Text 11"/>
          <p:cNvSpPr txBox="1"/>
          <p:nvPr/>
        </p:nvSpPr>
        <p:spPr>
          <a:xfrm>
            <a:off x="9326880" y="4773168"/>
            <a:ext cx="2240280" cy="411480"/>
          </a:xfrm>
          <a:prstGeom prst="rect">
            <a:avLst/>
          </a:prstGeom>
          <a:noFill/>
          <a:ln/>
        </p:spPr>
        <p:txBody>
          <a:bodyPr wrap="square" lIns="0" tIns="0" rIns="0" bIns="0" rtlCol="0" anchor="t"/>
          <a:lstStyle/>
          <a:p>
            <a:pPr indent="0" marL="0">
              <a:buNone/>
            </a:pPr>
            <a:r>
              <a:rPr lang="en-US" sz="1600" b="1" dirty="0">
                <a:solidFill>
                  <a:schemeClr val="tx2"/>
                </a:solidFill>
              </a:rPr>
              <a:t>CSDL tự chặn</a:t>
            </a:r>
            <a:endParaRPr lang="en-US" sz="1600" dirty="0"/>
          </a:p>
        </p:txBody>
      </p:sp>
      <p:sp>
        <p:nvSpPr>
          <p:cNvPr id="19" name="Text 12"/>
          <p:cNvSpPr txBox="1"/>
          <p:nvPr/>
        </p:nvSpPr>
        <p:spPr>
          <a:xfrm>
            <a:off x="8641080" y="5303520"/>
            <a:ext cx="2880360" cy="594360"/>
          </a:xfrm>
          <a:prstGeom prst="rect">
            <a:avLst/>
          </a:prstGeom>
          <a:noFill/>
          <a:ln/>
        </p:spPr>
        <p:txBody>
          <a:bodyPr wrap="square" lIns="0" tIns="0" rIns="0" bIns="0" rtlCol="0" anchor="t"/>
          <a:lstStyle/>
          <a:p>
            <a:pPr indent="0" marL="0">
              <a:buNone/>
            </a:pPr>
            <a:r>
              <a:rPr lang="en-US" sz="1250" dirty="0">
                <a:solidFill>
                  <a:schemeClr val="tx1"/>
                </a:solidFill>
              </a:rPr>
              <a:t>văn phòng vượt số tầng toà nhà, trùng tài khoản, xoá dữ liệu đang dùng</a:t>
            </a:r>
            <a:endParaRPr lang="en-US" sz="12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0"/>
          <p:cNvSpPr/>
          <p:nvPr>
            <p:ph idx="100" type="body" hasCustomPrompt="1"/>
          </p:nvPr>
        </p:nvSpPr>
        <p:spPr>
          <a:xfrm>
            <a:off x="548640" y="2011680"/>
            <a:ext cx="2743200" cy="1097280"/>
          </a:xfrm>
          <a:prstGeom prst="rect">
            <a:avLst/>
          </a:prstGeom>
          <a:noFill/>
          <a:ln/>
        </p:spPr>
        <p:txBody>
          <a:bodyPr wrap="square" rtlCol="0"/>
          <a:lstStyle/>
          <a:p>
            <a:pPr algn="l" indent="0" marL="0">
              <a:buNone/>
            </a:pPr>
            <a:r>
              <a:rPr lang="en-US" sz="6000" b="1" dirty="0">
                <a:solidFill>
                  <a:schemeClr val="accent1"/>
                </a:solidFill>
                <a:latin typeface="Cambria" pitchFamily="34" charset="0"/>
                <a:ea typeface="Cambria" pitchFamily="34" charset="-122"/>
                <a:cs typeface="Cambria" pitchFamily="34" charset="-120"/>
              </a:rPr>
              <a:t>03</a:t>
            </a:r>
            <a:endParaRPr lang="en-US" sz="6000" dirty="0"/>
          </a:p>
        </p:txBody>
      </p:sp>
      <p:sp>
        <p:nvSpPr>
          <p:cNvPr id="4" name="Text 0"/>
          <p:cNvSpPr/>
          <p:nvPr>
            <p:ph idx="101" type="title" hasCustomPrompt="1"/>
          </p:nvPr>
        </p:nvSpPr>
        <p:spPr>
          <a:xfrm>
            <a:off x="548640" y="3108960"/>
            <a:ext cx="10058400" cy="1097280"/>
          </a:xfrm>
          <a:prstGeom prst="rect">
            <a:avLst/>
          </a:prstGeom>
          <a:noFill/>
          <a:ln/>
        </p:spPr>
        <p:txBody>
          <a:bodyPr wrap="square" rtlCol="0"/>
          <a:lstStyle/>
          <a:p>
            <a:pPr algn="l" indent="0" marL="0">
              <a:buNone/>
            </a:pPr>
            <a:r>
              <a:rPr lang="en-US" sz="4000" b="1" dirty="0">
                <a:solidFill>
                  <a:schemeClr val="bg1"/>
                </a:solidFill>
                <a:latin typeface="Cambria" pitchFamily="34" charset="0"/>
                <a:ea typeface="Cambria" pitchFamily="34" charset="-122"/>
                <a:cs typeface="Cambria" pitchFamily="34" charset="-120"/>
              </a:rPr>
              <a:t>Kết quả</a:t>
            </a:r>
            <a:endParaRPr lang="en-US" sz="4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94415" cy="777240"/>
          </a:xfrm>
          <a:prstGeom prst="rect">
            <a:avLst/>
          </a:prstGeom>
          <a:noFill/>
          <a:ln/>
        </p:spPr>
        <p:txBody>
          <a:bodyPr wrap="square"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Ba tình huống trên toà nhà thật</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315200" cy="914400"/>
        </p:xfrm>
        <a:graphic>
          <a:graphicData uri="http://schemas.openxmlformats.org/drawingml/2006/table">
            <a:tbl>
              <a:tblPr/>
              <a:tblGrid>
                <a:gridCol w="3108960"/>
                <a:gridCol w="1188720"/>
                <a:gridCol w="1737360"/>
                <a:gridCol w="1280160"/>
              </a:tblGrid>
              <a:tr h="685800">
                <a:tc>
                  <a:txBody>
                    <a:bodyPr/>
                    <a:lstStyle/>
                    <a:p>
                      <a:pPr indent="0" marL="0">
                        <a:buNone/>
                      </a:pPr>
                      <a:r>
                        <a:rPr lang="en-US" sz="1500" b="1" dirty="0">
                          <a:solidFill>
                            <a:schemeClr val="bg1"/>
                          </a:solidFill>
                        </a:rPr>
                        <a:t>Tình huống</a:t>
                      </a:r>
                      <a:endParaRPr lang="en-US" sz="15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Cao độ</a:t>
                      </a:r>
                      <a:endParaRPr lang="en-US" sz="15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Hệ 3D (MAP)</a:t>
                      </a:r>
                      <a:endParaRPr lang="en-US" sz="15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Hàng rào 2D</a:t>
                      </a:r>
                      <a:endParaRPr lang="en-US" sz="15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tx2"/>
                    </a:solidFill>
                  </a:tcPr>
                </a:tc>
              </a:tr>
              <a:tr h="685800">
                <a:tc>
                  <a:txBody>
                    <a:bodyPr/>
                    <a:lstStyle/>
                    <a:p>
                      <a:pPr indent="0" marL="0">
                        <a:buNone/>
                      </a:pPr>
                      <a:r>
                        <a:rPr lang="en-US" sz="1500" dirty="0">
                          <a:solidFill>
                            <a:schemeClr val="tx1"/>
                          </a:solidFill>
                        </a:rPr>
                        <a:t>Alpha Tech chấm công ở tầng 6</a:t>
                      </a:r>
                      <a:endParaRPr lang="en-US" sz="15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30,58 m</a:t>
                      </a:r>
                      <a:endParaRPr lang="en-US" sz="15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2"/>
                          </a:solidFill>
                        </a:rPr>
                        <a:t>HỢP LỆ</a:t>
                      </a:r>
                      <a:endParaRPr lang="en-US" sz="15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500" dirty="0">
                          <a:solidFill>
                            <a:schemeClr val="tx1"/>
                          </a:solidFill>
                        </a:rPr>
                        <a:t>hợp lệ</a:t>
                      </a:r>
                      <a:endParaRPr lang="en-US" sz="15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2"/>
                    </a:solidFill>
                  </a:tcPr>
                </a:tc>
              </a:tr>
              <a:tr h="685800">
                <a:tc>
                  <a:txBody>
                    <a:bodyPr/>
                    <a:lstStyle/>
                    <a:p>
                      <a:pPr indent="0" marL="0">
                        <a:buNone/>
                      </a:pPr>
                      <a:r>
                        <a:rPr lang="en-US" sz="1500" dirty="0">
                          <a:solidFill>
                            <a:schemeClr val="tx1"/>
                          </a:solidFill>
                        </a:rPr>
                        <a:t>Cùng toạ độ, khai báo tầng 22</a:t>
                      </a:r>
                      <a:endParaRPr lang="en-US" sz="15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104,98 m</a:t>
                      </a:r>
                      <a:endParaRPr lang="en-US" sz="15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3"/>
                          </a:solidFill>
                        </a:rPr>
                        <a:t>NGHI NGỜ + R1</a:t>
                      </a:r>
                      <a:endParaRPr lang="en-US" sz="15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500" b="1" dirty="0">
                          <a:solidFill>
                            <a:schemeClr val="accent4"/>
                          </a:solidFill>
                        </a:rPr>
                        <a:t>hợp lệ — bỏ sót</a:t>
                      </a:r>
                      <a:endParaRPr lang="en-US" sz="15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r>
              <a:tr h="685800">
                <a:tc>
                  <a:txBody>
                    <a:bodyPr/>
                    <a:lstStyle/>
                    <a:p>
                      <a:pPr indent="0" marL="0">
                        <a:buNone/>
                      </a:pPr>
                      <a:r>
                        <a:rPr lang="en-US" sz="1500" dirty="0">
                          <a:solidFill>
                            <a:schemeClr val="tx1"/>
                          </a:solidFill>
                        </a:rPr>
                        <a:t>Cách toà nhà vài trăm mét</a:t>
                      </a:r>
                      <a:endParaRPr lang="en-US" sz="15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30,58 m</a:t>
                      </a:r>
                      <a:endParaRPr lang="en-US" sz="15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4"/>
                          </a:solidFill>
                        </a:rPr>
                        <a:t>NGOÀI VÙNG</a:t>
                      </a:r>
                      <a:endParaRPr lang="en-US" sz="15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indent="0" marL="0">
                        <a:buNone/>
                      </a:pPr>
                      <a:r>
                        <a:rPr lang="en-US" sz="1500" dirty="0">
                          <a:solidFill>
                            <a:schemeClr val="tx1"/>
                          </a:solidFill>
                        </a:rPr>
                        <a:t>ngoài vùng</a:t>
                      </a:r>
                      <a:endParaRPr lang="en-US" sz="15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2"/>
                    </a:solidFill>
                  </a:tcPr>
                </a:tc>
              </a:tr>
            </a:tbl>
          </a:graphicData>
        </a:graphic>
      </p:graphicFrame>
      <p:sp>
        <p:nvSpPr>
          <p:cNvPr id="5" name="Số liệu nổi bật"/>
          <p:cNvSpPr/>
          <p:nvPr/>
        </p:nvSpPr>
        <p:spPr>
          <a:xfrm>
            <a:off x="8229600" y="1463040"/>
            <a:ext cx="3429000" cy="4206240"/>
          </a:xfrm>
          <a:prstGeom prst="roundRect">
            <a:avLst>
              <a:gd name="adj" fmla="val 3200"/>
            </a:avLst>
          </a:prstGeom>
          <a:solidFill>
            <a:schemeClr val="tx2"/>
          </a:solidFill>
          <a:ln w="12700">
            <a:solidFill>
              <a:schemeClr val="tx2"/>
            </a:solidFill>
            <a:prstDash val="solid"/>
          </a:ln>
        </p:spPr>
      </p:sp>
      <p:sp>
        <p:nvSpPr>
          <p:cNvPr id="6" name="Text 2"/>
          <p:cNvSpPr txBox="1"/>
          <p:nvPr/>
        </p:nvSpPr>
        <p:spPr>
          <a:xfrm>
            <a:off x="8458200" y="1737360"/>
            <a:ext cx="2971800" cy="1280160"/>
          </a:xfrm>
          <a:prstGeom prst="rect">
            <a:avLst/>
          </a:prstGeom>
          <a:noFill/>
          <a:ln/>
        </p:spPr>
        <p:txBody>
          <a:bodyPr wrap="square" lIns="0" tIns="0" rIns="0" bIns="0" rtlCol="0" anchor="t"/>
          <a:lstStyle/>
          <a:p>
            <a:pPr indent="0" marL="0">
              <a:buNone/>
            </a:pPr>
            <a:r>
              <a:rPr lang="en-US" sz="7200" b="1" dirty="0">
                <a:solidFill>
                  <a:schemeClr val="accent1"/>
                </a:solidFill>
                <a:latin typeface="Cambria" pitchFamily="34" charset="0"/>
                <a:ea typeface="Cambria" pitchFamily="34" charset="-122"/>
                <a:cs typeface="Cambria" pitchFamily="34" charset="-120"/>
              </a:rPr>
              <a:t>13,5</a:t>
            </a:r>
            <a:endParaRPr lang="en-US" sz="7200" dirty="0"/>
          </a:p>
        </p:txBody>
      </p:sp>
      <p:sp>
        <p:nvSpPr>
          <p:cNvPr id="7" name="Text 3"/>
          <p:cNvSpPr txBox="1"/>
          <p:nvPr/>
        </p:nvSpPr>
        <p:spPr>
          <a:xfrm>
            <a:off x="8458200" y="3017520"/>
            <a:ext cx="2971800" cy="411480"/>
          </a:xfrm>
          <a:prstGeom prst="rect">
            <a:avLst/>
          </a:prstGeom>
          <a:noFill/>
          <a:ln/>
        </p:spPr>
        <p:txBody>
          <a:bodyPr wrap="square" lIns="0" tIns="0" rIns="0" bIns="0" rtlCol="0" anchor="t"/>
          <a:lstStyle/>
          <a:p>
            <a:pPr indent="0" marL="0">
              <a:buNone/>
            </a:pPr>
            <a:r>
              <a:rPr lang="en-US" sz="2000" b="1" dirty="0">
                <a:solidFill>
                  <a:schemeClr val="bg1"/>
                </a:solidFill>
              </a:rPr>
              <a:t>tầng lệch</a:t>
            </a:r>
            <a:endParaRPr lang="en-US" sz="2000" dirty="0"/>
          </a:p>
        </p:txBody>
      </p:sp>
      <p:sp>
        <p:nvSpPr>
          <p:cNvPr id="8" name="Text 4"/>
          <p:cNvSpPr txBox="1"/>
          <p:nvPr/>
        </p:nvSpPr>
        <p:spPr>
          <a:xfrm>
            <a:off x="8458200" y="3566160"/>
            <a:ext cx="2971800" cy="1737360"/>
          </a:xfrm>
          <a:prstGeom prst="rect">
            <a:avLst/>
          </a:prstGeom>
          <a:noFill/>
          <a:ln/>
        </p:spPr>
        <p:txBody>
          <a:bodyPr wrap="square" lIns="0" tIns="0" rIns="0" bIns="0" rtlCol="0" anchor="t"/>
          <a:lstStyle/>
          <a:p>
            <a:pPr indent="0" marL="0">
              <a:buNone/>
            </a:pPr>
            <a:r>
              <a:rPr lang="en-US" sz="1500" dirty="0">
                <a:solidFill>
                  <a:srgbClr val="C9D3E0"/>
                </a:solidFill>
              </a:rPr>
              <a:t>+62,78 m so với dải 23,60–42,20 m của Alpha Tech — cùng kinh độ, vĩ độ với tình huống 1</a:t>
            </a:r>
            <a:endParaRPr lang="en-US" sz="1500" dirty="0"/>
          </a:p>
        </p:txBody>
      </p:sp>
      <p:sp>
        <p:nvSpPr>
          <p:cNvPr id="9" name="Text 5"/>
          <p:cNvSpPr txBox="1"/>
          <p:nvPr/>
        </p:nvSpPr>
        <p:spPr>
          <a:xfrm>
            <a:off x="548640" y="4572000"/>
            <a:ext cx="7315200" cy="914400"/>
          </a:xfrm>
          <a:prstGeom prst="rect">
            <a:avLst/>
          </a:prstGeom>
          <a:noFill/>
          <a:ln/>
        </p:spPr>
        <p:txBody>
          <a:bodyPr wrap="square" lIns="0" tIns="0" rIns="0" bIns="0" rtlCol="0" anchor="t"/>
          <a:lstStyle/>
          <a:p>
            <a:pPr indent="0" marL="0">
              <a:buNone/>
            </a:pPr>
            <a:r>
              <a:rPr lang="en-US" sz="1700" b="1" i="1" dirty="0">
                <a:solidFill>
                  <a:schemeClr val="tx2"/>
                </a:solidFill>
              </a:rPr>
              <a:t>Tình huống 2 là kết quả quan trọng nhất: hàng rào 2D kết luận hợp lệ, mô hình MAP phát hiện sai tầng.</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94415" cy="777240"/>
          </a:xfrm>
          <a:prstGeom prst="rect">
            <a:avLst/>
          </a:prstGeom>
          <a:noFill/>
          <a:ln/>
        </p:spPr>
        <p:txBody>
          <a:bodyPr wrap="square"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Màn hình tình huống sai tầng</a:t>
            </a:r>
            <a:endParaRPr lang="en-US" sz="3200" dirty="0"/>
          </a:p>
        </p:txBody>
      </p:sp>
      <p:pic>
        <p:nvPicPr>
          <p:cNvPr id="4" name="Kết quả NGHI NGỜ trên ứng dụng" descr="Kết quả NGHI NGỜ trên ứng dụng">    </p:cNvPr>
          <p:cNvPicPr>
            <a:picLocks noChangeAspect="1"/>
          </p:cNvPicPr>
          <p:nvPr/>
        </p:nvPicPr>
        <p:blipFill>
          <a:blip r:embed="rId1"/>
          <a:stretch>
            <a:fillRect/>
          </a:stretch>
        </p:blipFill>
        <p:spPr>
          <a:xfrm>
            <a:off x="548640" y="1557192"/>
            <a:ext cx="8503920" cy="4246537"/>
          </a:xfrm>
          <a:prstGeom prst="rect">
            <a:avLst/>
          </a:prstGeom>
          <a:effectLst>
            <a:outerShdw sx="100000" sy="100000" kx="0" ky="0" algn="bl" rotWithShape="0" blurRad="76200" dist="25400" dir="5400000">
              <a:srgbClr val="000000">
                <a:alpha val="18000"/>
              </a:srgbClr>
            </a:outerShdw>
          </a:effectLst>
        </p:spPr>
      </p:pic>
      <p:sp>
        <p:nvSpPr>
          <p:cNvPr id="5" name="Chú thích 1"/>
          <p:cNvSpPr/>
          <p:nvPr/>
        </p:nvSpPr>
        <p:spPr>
          <a:xfrm>
            <a:off x="9326880" y="1280160"/>
            <a:ext cx="2316175" cy="1417320"/>
          </a:xfrm>
          <a:prstGeom prst="roundRect">
            <a:avLst>
              <a:gd name="adj" fmla="val 7742"/>
            </a:avLst>
          </a:prstGeom>
          <a:solidFill>
            <a:schemeClr val="bg2"/>
          </a:solidFill>
          <a:ln w="12700">
            <a:solidFill>
              <a:schemeClr val="bg2"/>
            </a:solidFill>
            <a:prstDash val="solid"/>
          </a:ln>
        </p:spPr>
      </p:sp>
      <p:sp>
        <p:nvSpPr>
          <p:cNvPr id="6" name="Text 2"/>
          <p:cNvSpPr txBox="1"/>
          <p:nvPr/>
        </p:nvSpPr>
        <p:spPr>
          <a:xfrm>
            <a:off x="9509760" y="1444752"/>
            <a:ext cx="1950415" cy="411480"/>
          </a:xfrm>
          <a:prstGeom prst="rect">
            <a:avLst/>
          </a:prstGeom>
          <a:noFill/>
          <a:ln/>
        </p:spPr>
        <p:txBody>
          <a:bodyPr wrap="square" lIns="0" tIns="0" rIns="0" bIns="0" rtlCol="0" anchor="t"/>
          <a:lstStyle/>
          <a:p>
            <a:pPr indent="0" marL="0">
              <a:buNone/>
            </a:pPr>
            <a:r>
              <a:rPr lang="en-US" sz="1600" b="1" dirty="0">
                <a:solidFill>
                  <a:schemeClr val="accent1"/>
                </a:solidFill>
              </a:rPr>
              <a:t>Tấm sàn tầng 22</a:t>
            </a:r>
            <a:endParaRPr lang="en-US" sz="1600" dirty="0"/>
          </a:p>
        </p:txBody>
      </p:sp>
      <p:sp>
        <p:nvSpPr>
          <p:cNvPr id="7" name="Text 3"/>
          <p:cNvSpPr txBox="1"/>
          <p:nvPr/>
        </p:nvSpPr>
        <p:spPr>
          <a:xfrm>
            <a:off x="9509760" y="1901952"/>
            <a:ext cx="1950415" cy="731520"/>
          </a:xfrm>
          <a:prstGeom prst="rect">
            <a:avLst/>
          </a:prstGeom>
          <a:noFill/>
          <a:ln/>
        </p:spPr>
        <p:txBody>
          <a:bodyPr wrap="square" lIns="0" tIns="0" rIns="0" bIns="0" rtlCol="0" anchor="t"/>
          <a:lstStyle/>
          <a:p>
            <a:pPr indent="0" marL="0">
              <a:buNone/>
            </a:pPr>
            <a:r>
              <a:rPr lang="en-US" sz="1350" dirty="0">
                <a:solidFill>
                  <a:schemeClr val="tx1"/>
                </a:solidFill>
              </a:rPr>
              <a:t>nằm trong dải xanh của Beta Finance, xa dải cam của Alpha Tech</a:t>
            </a:r>
            <a:endParaRPr lang="en-US" sz="1350" dirty="0"/>
          </a:p>
        </p:txBody>
      </p:sp>
      <p:sp>
        <p:nvSpPr>
          <p:cNvPr id="8" name="Chú thích 2"/>
          <p:cNvSpPr/>
          <p:nvPr/>
        </p:nvSpPr>
        <p:spPr>
          <a:xfrm>
            <a:off x="9326880" y="2880360"/>
            <a:ext cx="2316175" cy="1417320"/>
          </a:xfrm>
          <a:prstGeom prst="roundRect">
            <a:avLst>
              <a:gd name="adj" fmla="val 7742"/>
            </a:avLst>
          </a:prstGeom>
          <a:solidFill>
            <a:schemeClr val="bg2"/>
          </a:solidFill>
          <a:ln w="12700">
            <a:solidFill>
              <a:schemeClr val="bg2"/>
            </a:solidFill>
            <a:prstDash val="solid"/>
          </a:ln>
        </p:spPr>
      </p:sp>
      <p:sp>
        <p:nvSpPr>
          <p:cNvPr id="9" name="Text 5"/>
          <p:cNvSpPr txBox="1"/>
          <p:nvPr/>
        </p:nvSpPr>
        <p:spPr>
          <a:xfrm>
            <a:off x="9509760" y="3044952"/>
            <a:ext cx="1950415" cy="411480"/>
          </a:xfrm>
          <a:prstGeom prst="rect">
            <a:avLst/>
          </a:prstGeom>
          <a:noFill/>
          <a:ln/>
        </p:spPr>
        <p:txBody>
          <a:bodyPr wrap="square" lIns="0" tIns="0" rIns="0" bIns="0" rtlCol="0" anchor="t"/>
          <a:lstStyle/>
          <a:p>
            <a:pPr indent="0" marL="0">
              <a:buNone/>
            </a:pPr>
            <a:r>
              <a:rPr lang="en-US" sz="1600" b="1" dirty="0">
                <a:solidFill>
                  <a:schemeClr val="accent1"/>
                </a:solidFill>
              </a:rPr>
              <a:t>Ngang ≈ 0 m</a:t>
            </a:r>
            <a:endParaRPr lang="en-US" sz="1600" dirty="0"/>
          </a:p>
        </p:txBody>
      </p:sp>
      <p:sp>
        <p:nvSpPr>
          <p:cNvPr id="10" name="Text 6"/>
          <p:cNvSpPr txBox="1"/>
          <p:nvPr/>
        </p:nvSpPr>
        <p:spPr>
          <a:xfrm>
            <a:off x="9509760" y="3502152"/>
            <a:ext cx="1950415" cy="731520"/>
          </a:xfrm>
          <a:prstGeom prst="rect">
            <a:avLst/>
          </a:prstGeom>
          <a:noFill/>
          <a:ln/>
        </p:spPr>
        <p:txBody>
          <a:bodyPr wrap="square" lIns="0" tIns="0" rIns="0" bIns="0" rtlCol="0" anchor="t"/>
          <a:lstStyle/>
          <a:p>
            <a:pPr indent="0" marL="0">
              <a:buNone/>
            </a:pPr>
            <a:r>
              <a:rPr lang="en-US" sz="1350" dirty="0">
                <a:solidFill>
                  <a:schemeClr val="tx1"/>
                </a:solidFill>
              </a:rPr>
              <a:t>khoảng cách ngang tới khối — hàng rào 2D chấp nhận</a:t>
            </a:r>
            <a:endParaRPr lang="en-US" sz="1350" dirty="0"/>
          </a:p>
        </p:txBody>
      </p:sp>
      <p:sp>
        <p:nvSpPr>
          <p:cNvPr id="11" name="Chú thích 3"/>
          <p:cNvSpPr/>
          <p:nvPr/>
        </p:nvSpPr>
        <p:spPr>
          <a:xfrm>
            <a:off x="9326880" y="4480560"/>
            <a:ext cx="2316175" cy="1417320"/>
          </a:xfrm>
          <a:prstGeom prst="roundRect">
            <a:avLst>
              <a:gd name="adj" fmla="val 7742"/>
            </a:avLst>
          </a:prstGeom>
          <a:solidFill>
            <a:schemeClr val="bg2"/>
          </a:solidFill>
          <a:ln w="12700">
            <a:solidFill>
              <a:schemeClr val="bg2"/>
            </a:solidFill>
            <a:prstDash val="solid"/>
          </a:ln>
        </p:spPr>
      </p:sp>
      <p:sp>
        <p:nvSpPr>
          <p:cNvPr id="12" name="Text 8"/>
          <p:cNvSpPr txBox="1"/>
          <p:nvPr/>
        </p:nvSpPr>
        <p:spPr>
          <a:xfrm>
            <a:off x="9509760" y="4645152"/>
            <a:ext cx="1950415" cy="411480"/>
          </a:xfrm>
          <a:prstGeom prst="rect">
            <a:avLst/>
          </a:prstGeom>
          <a:noFill/>
          <a:ln/>
        </p:spPr>
        <p:txBody>
          <a:bodyPr wrap="square" lIns="0" tIns="0" rIns="0" bIns="0" rtlCol="0" anchor="t"/>
          <a:lstStyle/>
          <a:p>
            <a:pPr indent="0" marL="0">
              <a:buNone/>
            </a:pPr>
            <a:r>
              <a:rPr lang="en-US" sz="1600" b="1" dirty="0">
                <a:solidFill>
                  <a:schemeClr val="accent1"/>
                </a:solidFill>
              </a:rPr>
              <a:t>Lệch +62,78 m</a:t>
            </a:r>
            <a:endParaRPr lang="en-US" sz="1600" dirty="0"/>
          </a:p>
        </p:txBody>
      </p:sp>
      <p:sp>
        <p:nvSpPr>
          <p:cNvPr id="13" name="Text 9"/>
          <p:cNvSpPr txBox="1"/>
          <p:nvPr/>
        </p:nvSpPr>
        <p:spPr>
          <a:xfrm>
            <a:off x="9509760" y="5102352"/>
            <a:ext cx="1950415" cy="731520"/>
          </a:xfrm>
          <a:prstGeom prst="rect">
            <a:avLst/>
          </a:prstGeom>
          <a:noFill/>
          <a:ln/>
        </p:spPr>
        <p:txBody>
          <a:bodyPr wrap="square" lIns="0" tIns="0" rIns="0" bIns="0" rtlCol="0" anchor="t"/>
          <a:lstStyle/>
          <a:p>
            <a:pPr indent="0" marL="0">
              <a:buNone/>
            </a:pPr>
            <a:r>
              <a:rPr lang="en-US" sz="1350" dirty="0">
                <a:solidFill>
                  <a:schemeClr val="tx1"/>
                </a:solidFill>
              </a:rPr>
              <a:t>R1 mức CAO: ≈ 13,5 tầng</a:t>
            </a:r>
            <a:endParaRPr lang="en-US" sz="13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94415" cy="777240"/>
          </a:xfrm>
          <a:prstGeom prst="rect">
            <a:avLst/>
          </a:prstGeom>
          <a:noFill/>
          <a:ln/>
        </p:spPr>
        <p:txBody>
          <a:bodyPr wrap="square"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Kiểm thử tự động và yêu cầu môn học</a:t>
            </a:r>
            <a:endParaRPr lang="en-US" sz="3200" dirty="0"/>
          </a:p>
        </p:txBody>
      </p:sp>
      <p:sp>
        <p:nvSpPr>
          <p:cNvPr id="4" name="Kết quả kiểm thử"/>
          <p:cNvSpPr/>
          <p:nvPr/>
        </p:nvSpPr>
        <p:spPr>
          <a:xfrm>
            <a:off x="548640" y="1371600"/>
            <a:ext cx="3566160" cy="4709160"/>
          </a:xfrm>
          <a:prstGeom prst="roundRect">
            <a:avLst>
              <a:gd name="adj" fmla="val 3077"/>
            </a:avLst>
          </a:prstGeom>
          <a:solidFill>
            <a:schemeClr val="bg2"/>
          </a:solidFill>
          <a:ln w="12700">
            <a:solidFill>
              <a:schemeClr val="bg2"/>
            </a:solidFill>
            <a:prstDash val="solid"/>
          </a:ln>
        </p:spPr>
      </p:sp>
      <p:sp>
        <p:nvSpPr>
          <p:cNvPr id="5" name="Biểu tượng đạt (nền)"/>
          <p:cNvSpPr/>
          <p:nvPr/>
        </p:nvSpPr>
        <p:spPr>
          <a:xfrm>
            <a:off x="822960" y="1645920"/>
            <a:ext cx="731520" cy="731520"/>
          </a:xfrm>
          <a:prstGeom prst="ellipse">
            <a:avLst/>
          </a:prstGeom>
          <a:solidFill>
            <a:schemeClr val="accent2"/>
          </a:solidFill>
          <a:ln w="12700">
            <a:solidFill>
              <a:schemeClr val="accent2"/>
            </a:solidFill>
            <a:prstDash val="solid"/>
          </a:ln>
        </p:spPr>
      </p:sp>
      <p:pic>
        <p:nvPicPr>
          <p:cNvPr id="6" name="Biểu tượng đạt" descr="Biểu tượng đạt">    </p:cNvPr>
          <p:cNvPicPr>
            <a:picLocks noChangeAspect="1"/>
          </p:cNvPicPr>
          <p:nvPr/>
        </p:nvPicPr>
        <p:blipFill>
          <a:blip r:embed="rId1"/>
          <a:stretch>
            <a:fillRect/>
          </a:stretch>
        </p:blipFill>
        <p:spPr>
          <a:xfrm>
            <a:off x="1013155" y="1836115"/>
            <a:ext cx="351130" cy="351130"/>
          </a:xfrm>
          <a:prstGeom prst="rect">
            <a:avLst/>
          </a:prstGeom>
        </p:spPr>
      </p:pic>
      <p:sp>
        <p:nvSpPr>
          <p:cNvPr id="7" name="Text 3"/>
          <p:cNvSpPr txBox="1"/>
          <p:nvPr/>
        </p:nvSpPr>
        <p:spPr>
          <a:xfrm>
            <a:off x="822960" y="2514600"/>
            <a:ext cx="3108960" cy="1097280"/>
          </a:xfrm>
          <a:prstGeom prst="rect">
            <a:avLst/>
          </a:prstGeom>
          <a:noFill/>
          <a:ln/>
        </p:spPr>
        <p:txBody>
          <a:bodyPr wrap="square" lIns="0" tIns="0" rIns="0" bIns="0" rtlCol="0" anchor="t"/>
          <a:lstStyle/>
          <a:p>
            <a:pPr indent="0" marL="0">
              <a:buNone/>
            </a:pPr>
            <a:r>
              <a:rPr lang="en-US" sz="6400" b="1" dirty="0">
                <a:solidFill>
                  <a:schemeClr val="accent2"/>
                </a:solidFill>
                <a:latin typeface="Cambria" pitchFamily="34" charset="0"/>
                <a:ea typeface="Cambria" pitchFamily="34" charset="-122"/>
                <a:cs typeface="Cambria" pitchFamily="34" charset="-120"/>
              </a:rPr>
              <a:t>34/34</a:t>
            </a:r>
            <a:endParaRPr lang="en-US" sz="6400" dirty="0"/>
          </a:p>
        </p:txBody>
      </p:sp>
      <p:sp>
        <p:nvSpPr>
          <p:cNvPr id="8" name="Text 4"/>
          <p:cNvSpPr txBox="1"/>
          <p:nvPr/>
        </p:nvSpPr>
        <p:spPr>
          <a:xfrm>
            <a:off x="822960" y="3611880"/>
            <a:ext cx="3108960" cy="411480"/>
          </a:xfrm>
          <a:prstGeom prst="rect">
            <a:avLst/>
          </a:prstGeom>
          <a:noFill/>
          <a:ln/>
        </p:spPr>
        <p:txBody>
          <a:bodyPr wrap="square" lIns="0" tIns="0" rIns="0" bIns="0" rtlCol="0" anchor="t"/>
          <a:lstStyle/>
          <a:p>
            <a:pPr indent="0" marL="0">
              <a:buNone/>
            </a:pPr>
            <a:r>
              <a:rPr lang="en-US" sz="1500" b="1" dirty="0">
                <a:solidFill>
                  <a:schemeClr val="tx2"/>
                </a:solidFill>
              </a:rPr>
              <a:t>ca kiểm thử đầu–cuối đạt (npm test)</a:t>
            </a:r>
            <a:endParaRPr lang="en-US" sz="1500" dirty="0"/>
          </a:p>
        </p:txBody>
      </p:sp>
      <p:sp>
        <p:nvSpPr>
          <p:cNvPr id="9" name="Text 5"/>
          <p:cNvSpPr txBox="1"/>
          <p:nvPr/>
        </p:nvSpPr>
        <p:spPr>
          <a:xfrm>
            <a:off x="822960" y="4114800"/>
            <a:ext cx="3108960" cy="1737360"/>
          </a:xfrm>
          <a:prstGeom prst="rect">
            <a:avLst/>
          </a:prstGeom>
          <a:noFill/>
          <a:ln/>
        </p:spPr>
        <p:txBody>
          <a:bodyPr wrap="square" lIns="0" tIns="0" rIns="0" bIns="0" rtlCol="0" anchor="t"/>
          <a:lstStyle/>
          <a:p>
            <a:pPr indent="0" marL="0">
              <a:buNone/>
            </a:pPr>
            <a:r>
              <a:rPr lang="en-US" sz="1350" dirty="0">
                <a:solidFill>
                  <a:schemeClr val="tx1"/>
                </a:solidFill>
              </a:rPr>
              <a:t>API thật trên CSDL thật: ba tình huống MAP, phân quyền, thêm / sửa / xoá, ràng buộc CSDL, tự tính lại khối, trải SSM</a:t>
            </a:r>
            <a:endParaRPr lang="en-US" sz="13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434840" y="1371600"/>
          <a:ext cx="7223760" cy="914400"/>
        </p:xfrm>
        <a:graphic>
          <a:graphicData uri="http://schemas.openxmlformats.org/drawingml/2006/table">
            <a:tbl>
              <a:tblPr/>
              <a:tblGrid>
                <a:gridCol w="2834640"/>
                <a:gridCol w="4389120"/>
              </a:tblGrid>
              <a:tr h="914400">
                <a:tc>
                  <a:txBody>
                    <a:bodyPr/>
                    <a:lstStyle/>
                    <a:p>
                      <a:pPr indent="0" marL="0">
                        <a:buNone/>
                      </a:pPr>
                      <a:r>
                        <a:rPr lang="en-US" sz="1500" b="1" dirty="0">
                          <a:solidFill>
                            <a:schemeClr val="bg1"/>
                          </a:solidFill>
                        </a:rPr>
                        <a:t>Yêu cầu (Danh sách đồ án 2026)</a:t>
                      </a:r>
                      <a:endParaRPr lang="en-US" sz="15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Đáp ứng</a:t>
                      </a:r>
                      <a:endParaRPr lang="en-US" sz="15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tx2"/>
                    </a:solidFill>
                  </a:tcPr>
                </a:tc>
              </a:tr>
              <a:tr h="914400">
                <a:tc>
                  <a:txBody>
                    <a:bodyPr/>
                    <a:lstStyle/>
                    <a:p>
                      <a:pPr indent="0" marL="0">
                        <a:buNone/>
                      </a:pPr>
                      <a:r>
                        <a:rPr lang="en-US" sz="1500" dirty="0">
                          <a:solidFill>
                            <a:schemeClr val="tx1"/>
                          </a:solidFill>
                        </a:rPr>
                        <a:t>Thêm, xoá, sửa dữ liệu</a:t>
                      </a:r>
                      <a:endParaRPr lang="en-US" sz="15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Tab Quản trị: 6 loại dữ liệu + phân ca</a:t>
                      </a:r>
                      <a:endParaRPr lang="en-US" sz="15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2"/>
                    </a:solidFill>
                  </a:tcPr>
                </a:tc>
              </a:tr>
              <a:tr h="914400">
                <a:tc>
                  <a:txBody>
                    <a:bodyPr/>
                    <a:lstStyle/>
                    <a:p>
                      <a:pPr indent="0" marL="0">
                        <a:buNone/>
                      </a:pPr>
                      <a:r>
                        <a:rPr lang="en-US" sz="1500" dirty="0">
                          <a:solidFill>
                            <a:schemeClr val="tx1"/>
                          </a:solidFill>
                        </a:rPr>
                        <a:t>Thống kê dữ liệu</a:t>
                      </a:r>
                      <a:endParaRPr lang="en-US" sz="15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Bảng điều khiển, báo cáo công, thống kê theo khối, xuất CSV</a:t>
                      </a:r>
                      <a:endParaRPr lang="en-US" sz="15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1"/>
                    </a:solidFill>
                  </a:tcPr>
                </a:tc>
              </a:tr>
              <a:tr h="914400">
                <a:tc>
                  <a:txBody>
                    <a:bodyPr/>
                    <a:lstStyle/>
                    <a:p>
                      <a:pPr indent="0" marL="0">
                        <a:buNone/>
                      </a:pPr>
                      <a:r>
                        <a:rPr lang="en-US" sz="1500" dirty="0">
                          <a:solidFill>
                            <a:schemeClr val="tx1"/>
                          </a:solidFill>
                        </a:rPr>
                        <a:t>Hiển thị thực thể không gian</a:t>
                      </a:r>
                      <a:endParaRPr lang="en-US" sz="15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Toà nhà, khối MAP, tấm sàn, điểm chấm công trên SceneView</a:t>
                      </a:r>
                      <a:endParaRPr lang="en-US" sz="15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2"/>
                    </a:solidFill>
                  </a:tcPr>
                </a:tc>
              </a:tr>
              <a:tr h="914400">
                <a:tc>
                  <a:txBody>
                    <a:bodyPr/>
                    <a:lstStyle/>
                    <a:p>
                      <a:pPr indent="0" marL="0">
                        <a:buNone/>
                      </a:pPr>
                      <a:r>
                        <a:rPr lang="en-US" sz="1500" dirty="0">
                          <a:solidFill>
                            <a:schemeClr val="tx1"/>
                          </a:solidFill>
                        </a:rPr>
                        <a:t>Bản đồ 3D mức chi tiết 3</a:t>
                      </a:r>
                      <a:endParaRPr lang="en-US" sz="15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LOD3 sinh tự động, có lớp ngữ nghĩa CityGML</a:t>
                      </a:r>
                      <a:endParaRPr lang="en-US" sz="1500" dirty="0"/>
                    </a:p>
                  </a:txBody>
                  <a:tcPr marL="91440" marR="91440"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0"/>
          <p:cNvSpPr/>
          <p:nvPr>
            <p:ph idx="100" type="body" hasCustomPrompt="1"/>
          </p:nvPr>
        </p:nvSpPr>
        <p:spPr>
          <a:xfrm>
            <a:off x="548640" y="2011680"/>
            <a:ext cx="2743200" cy="1097280"/>
          </a:xfrm>
          <a:prstGeom prst="rect">
            <a:avLst/>
          </a:prstGeom>
          <a:noFill/>
          <a:ln/>
        </p:spPr>
        <p:txBody>
          <a:bodyPr wrap="square" rtlCol="0"/>
          <a:lstStyle/>
          <a:p>
            <a:pPr algn="l" indent="0" marL="0">
              <a:buNone/>
            </a:pPr>
            <a:r>
              <a:rPr lang="en-US" sz="6000" b="1" dirty="0">
                <a:solidFill>
                  <a:schemeClr val="accent1"/>
                </a:solidFill>
                <a:latin typeface="Cambria" pitchFamily="34" charset="0"/>
                <a:ea typeface="Cambria" pitchFamily="34" charset="-122"/>
                <a:cs typeface="Cambria" pitchFamily="34" charset="-120"/>
              </a:rPr>
              <a:t>DEMO</a:t>
            </a:r>
            <a:endParaRPr lang="en-US" sz="6000" dirty="0"/>
          </a:p>
        </p:txBody>
      </p:sp>
      <p:sp>
        <p:nvSpPr>
          <p:cNvPr id="4" name="Text 0"/>
          <p:cNvSpPr/>
          <p:nvPr>
            <p:ph idx="101" type="title" hasCustomPrompt="1"/>
          </p:nvPr>
        </p:nvSpPr>
        <p:spPr>
          <a:xfrm>
            <a:off x="548640" y="3108960"/>
            <a:ext cx="10058400" cy="1097280"/>
          </a:xfrm>
          <a:prstGeom prst="rect">
            <a:avLst/>
          </a:prstGeom>
          <a:noFill/>
          <a:ln/>
        </p:spPr>
        <p:txBody>
          <a:bodyPr wrap="square" rtlCol="0"/>
          <a:lstStyle/>
          <a:p>
            <a:pPr algn="l" indent="0" marL="0">
              <a:buNone/>
            </a:pPr>
            <a:r>
              <a:rPr lang="en-US" sz="4000" b="1" dirty="0">
                <a:solidFill>
                  <a:schemeClr val="bg1"/>
                </a:solidFill>
                <a:latin typeface="Cambria" pitchFamily="34" charset="0"/>
                <a:ea typeface="Cambria" pitchFamily="34" charset="-122"/>
                <a:cs typeface="Cambria" pitchFamily="34" charset="-120"/>
              </a:rPr>
              <a:t>Trình diễn trực tiếp</a:t>
            </a:r>
            <a:endParaRPr lang="en-US" sz="4000" dirty="0"/>
          </a:p>
        </p:txBody>
      </p:sp>
      <p:sp>
        <p:nvSpPr>
          <p:cNvPr id="5" name="Số bước 1"/>
          <p:cNvSpPr/>
          <p:nvPr/>
        </p:nvSpPr>
        <p:spPr>
          <a:xfrm>
            <a:off x="548640" y="4480560"/>
            <a:ext cx="457200" cy="457200"/>
          </a:xfrm>
          <a:prstGeom prst="ellipse">
            <a:avLst/>
          </a:prstGeom>
          <a:solidFill>
            <a:schemeClr val="accent1"/>
          </a:solidFill>
          <a:ln w="12700">
            <a:solidFill>
              <a:schemeClr val="accent1"/>
            </a:solidFill>
            <a:prstDash val="solid"/>
          </a:ln>
        </p:spPr>
      </p:sp>
      <p:sp>
        <p:nvSpPr>
          <p:cNvPr id="6" name="Text 3"/>
          <p:cNvSpPr txBox="1"/>
          <p:nvPr/>
        </p:nvSpPr>
        <p:spPr>
          <a:xfrm>
            <a:off x="548640" y="44805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143000" y="4507992"/>
            <a:ext cx="3017520" cy="457200"/>
          </a:xfrm>
          <a:prstGeom prst="rect">
            <a:avLst/>
          </a:prstGeom>
          <a:noFill/>
          <a:ln/>
        </p:spPr>
        <p:txBody>
          <a:bodyPr wrap="square" lIns="0" tIns="0" rIns="0" bIns="0" rtlCol="0" anchor="ctr"/>
          <a:lstStyle/>
          <a:p>
            <a:pPr indent="0" marL="0">
              <a:buNone/>
            </a:pPr>
            <a:r>
              <a:rPr lang="en-US" sz="1500" dirty="0">
                <a:solidFill>
                  <a:schemeClr val="bg1"/>
                </a:solidFill>
              </a:rPr>
              <a:t>TH1 → HỢP LỆ</a:t>
            </a:r>
            <a:endParaRPr lang="en-US" sz="1500" dirty="0"/>
          </a:p>
        </p:txBody>
      </p:sp>
      <p:sp>
        <p:nvSpPr>
          <p:cNvPr id="8" name="Số bước 2"/>
          <p:cNvSpPr/>
          <p:nvPr/>
        </p:nvSpPr>
        <p:spPr>
          <a:xfrm>
            <a:off x="4297680" y="4480560"/>
            <a:ext cx="457200" cy="457200"/>
          </a:xfrm>
          <a:prstGeom prst="ellipse">
            <a:avLst/>
          </a:prstGeom>
          <a:solidFill>
            <a:schemeClr val="accent1"/>
          </a:solidFill>
          <a:ln w="12700">
            <a:solidFill>
              <a:schemeClr val="accent1"/>
            </a:solidFill>
            <a:prstDash val="solid"/>
          </a:ln>
        </p:spPr>
      </p:sp>
      <p:sp>
        <p:nvSpPr>
          <p:cNvPr id="9" name="Text 6"/>
          <p:cNvSpPr txBox="1"/>
          <p:nvPr/>
        </p:nvSpPr>
        <p:spPr>
          <a:xfrm>
            <a:off x="4297680" y="44805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 7"/>
          <p:cNvSpPr txBox="1"/>
          <p:nvPr/>
        </p:nvSpPr>
        <p:spPr>
          <a:xfrm>
            <a:off x="4892040" y="4507992"/>
            <a:ext cx="3017520" cy="457200"/>
          </a:xfrm>
          <a:prstGeom prst="rect">
            <a:avLst/>
          </a:prstGeom>
          <a:noFill/>
          <a:ln/>
        </p:spPr>
        <p:txBody>
          <a:bodyPr wrap="square" lIns="0" tIns="0" rIns="0" bIns="0" rtlCol="0" anchor="ctr"/>
          <a:lstStyle/>
          <a:p>
            <a:pPr indent="0" marL="0">
              <a:buNone/>
            </a:pPr>
            <a:r>
              <a:rPr lang="en-US" sz="1500" dirty="0">
                <a:solidFill>
                  <a:schemeClr val="bg1"/>
                </a:solidFill>
              </a:rPr>
              <a:t>TH2 → NGHI NGỜ (điểm nhấn)</a:t>
            </a:r>
            <a:endParaRPr lang="en-US" sz="1500" dirty="0"/>
          </a:p>
        </p:txBody>
      </p:sp>
      <p:sp>
        <p:nvSpPr>
          <p:cNvPr id="11" name="Số bước 3"/>
          <p:cNvSpPr/>
          <p:nvPr/>
        </p:nvSpPr>
        <p:spPr>
          <a:xfrm>
            <a:off x="8046720" y="4480560"/>
            <a:ext cx="457200" cy="457200"/>
          </a:xfrm>
          <a:prstGeom prst="ellipse">
            <a:avLst/>
          </a:prstGeom>
          <a:solidFill>
            <a:schemeClr val="accent1"/>
          </a:solidFill>
          <a:ln w="12700">
            <a:solidFill>
              <a:schemeClr val="accent1"/>
            </a:solidFill>
            <a:prstDash val="solid"/>
          </a:ln>
        </p:spPr>
      </p:sp>
      <p:sp>
        <p:nvSpPr>
          <p:cNvPr id="12" name="Text 9"/>
          <p:cNvSpPr txBox="1"/>
          <p:nvPr/>
        </p:nvSpPr>
        <p:spPr>
          <a:xfrm>
            <a:off x="8046720" y="44805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0"/>
          <p:cNvSpPr txBox="1"/>
          <p:nvPr/>
        </p:nvSpPr>
        <p:spPr>
          <a:xfrm>
            <a:off x="8641080" y="4507992"/>
            <a:ext cx="3017520" cy="457200"/>
          </a:xfrm>
          <a:prstGeom prst="rect">
            <a:avLst/>
          </a:prstGeom>
          <a:noFill/>
          <a:ln/>
        </p:spPr>
        <p:txBody>
          <a:bodyPr wrap="square" lIns="0" tIns="0" rIns="0" bIns="0" rtlCol="0" anchor="ctr"/>
          <a:lstStyle/>
          <a:p>
            <a:pPr indent="0" marL="0">
              <a:buNone/>
            </a:pPr>
            <a:r>
              <a:rPr lang="en-US" sz="1500" dirty="0">
                <a:solidFill>
                  <a:schemeClr val="bg1"/>
                </a:solidFill>
              </a:rPr>
              <a:t>TH3 → NGOÀI VÙNG</a:t>
            </a:r>
            <a:endParaRPr lang="en-US" sz="1500" dirty="0"/>
          </a:p>
        </p:txBody>
      </p:sp>
      <p:sp>
        <p:nvSpPr>
          <p:cNvPr id="14" name="Số bước 4"/>
          <p:cNvSpPr/>
          <p:nvPr/>
        </p:nvSpPr>
        <p:spPr>
          <a:xfrm>
            <a:off x="548640" y="5394960"/>
            <a:ext cx="457200" cy="457200"/>
          </a:xfrm>
          <a:prstGeom prst="ellipse">
            <a:avLst/>
          </a:prstGeom>
          <a:solidFill>
            <a:schemeClr val="accent1"/>
          </a:solidFill>
          <a:ln w="12700">
            <a:solidFill>
              <a:schemeClr val="accent1"/>
            </a:solidFill>
            <a:prstDash val="solid"/>
          </a:ln>
        </p:spPr>
      </p:sp>
      <p:sp>
        <p:nvSpPr>
          <p:cNvPr id="15" name="Text 12"/>
          <p:cNvSpPr txBox="1"/>
          <p:nvPr/>
        </p:nvSpPr>
        <p:spPr>
          <a:xfrm>
            <a:off x="548640" y="53949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6" name="Text 13"/>
          <p:cNvSpPr txBox="1"/>
          <p:nvPr/>
        </p:nvSpPr>
        <p:spPr>
          <a:xfrm>
            <a:off x="1143000" y="5422392"/>
            <a:ext cx="3017520" cy="457200"/>
          </a:xfrm>
          <a:prstGeom prst="rect">
            <a:avLst/>
          </a:prstGeom>
          <a:noFill/>
          <a:ln/>
        </p:spPr>
        <p:txBody>
          <a:bodyPr wrap="square" lIns="0" tIns="0" rIns="0" bIns="0" rtlCol="0" anchor="ctr"/>
          <a:lstStyle/>
          <a:p>
            <a:pPr indent="0" marL="0">
              <a:buNone/>
            </a:pPr>
            <a:r>
              <a:rPr lang="en-US" sz="1500" dirty="0">
                <a:solidFill>
                  <a:schemeClr val="bg1"/>
                </a:solidFill>
              </a:rPr>
              <a:t>Giải trình và duyệt</a:t>
            </a:r>
            <a:endParaRPr lang="en-US" sz="1500" dirty="0"/>
          </a:p>
        </p:txBody>
      </p:sp>
      <p:sp>
        <p:nvSpPr>
          <p:cNvPr id="17" name="Số bước 5"/>
          <p:cNvSpPr/>
          <p:nvPr/>
        </p:nvSpPr>
        <p:spPr>
          <a:xfrm>
            <a:off x="4297680" y="5394960"/>
            <a:ext cx="457200" cy="457200"/>
          </a:xfrm>
          <a:prstGeom prst="ellipse">
            <a:avLst/>
          </a:prstGeom>
          <a:solidFill>
            <a:schemeClr val="accent1"/>
          </a:solidFill>
          <a:ln w="12700">
            <a:solidFill>
              <a:schemeClr val="accent1"/>
            </a:solidFill>
            <a:prstDash val="solid"/>
          </a:ln>
        </p:spPr>
      </p:sp>
      <p:sp>
        <p:nvSpPr>
          <p:cNvPr id="18" name="Text 15"/>
          <p:cNvSpPr txBox="1"/>
          <p:nvPr/>
        </p:nvSpPr>
        <p:spPr>
          <a:xfrm>
            <a:off x="4297680" y="53949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9" name="Text 16"/>
          <p:cNvSpPr txBox="1"/>
          <p:nvPr/>
        </p:nvSpPr>
        <p:spPr>
          <a:xfrm>
            <a:off x="4892040" y="5422392"/>
            <a:ext cx="3017520" cy="457200"/>
          </a:xfrm>
          <a:prstGeom prst="rect">
            <a:avLst/>
          </a:prstGeom>
          <a:noFill/>
          <a:ln/>
        </p:spPr>
        <p:txBody>
          <a:bodyPr wrap="square" lIns="0" tIns="0" rIns="0" bIns="0" rtlCol="0" anchor="ctr"/>
          <a:lstStyle/>
          <a:p>
            <a:pPr indent="0" marL="0">
              <a:buNone/>
            </a:pPr>
            <a:r>
              <a:rPr lang="en-US" sz="1500" dirty="0">
                <a:solidFill>
                  <a:schemeClr val="bg1"/>
                </a:solidFill>
              </a:rPr>
              <a:t>Quản trị: thêm toà nhà và khối</a:t>
            </a:r>
            <a:endParaRPr lang="en-US" sz="1500" dirty="0"/>
          </a:p>
        </p:txBody>
      </p:sp>
      <p:sp>
        <p:nvSpPr>
          <p:cNvPr id="20" name="Số bước 6"/>
          <p:cNvSpPr/>
          <p:nvPr/>
        </p:nvSpPr>
        <p:spPr>
          <a:xfrm>
            <a:off x="8046720" y="5394960"/>
            <a:ext cx="457200" cy="457200"/>
          </a:xfrm>
          <a:prstGeom prst="ellipse">
            <a:avLst/>
          </a:prstGeom>
          <a:solidFill>
            <a:schemeClr val="accent1"/>
          </a:solidFill>
          <a:ln w="12700">
            <a:solidFill>
              <a:schemeClr val="accent1"/>
            </a:solidFill>
            <a:prstDash val="solid"/>
          </a:ln>
        </p:spPr>
      </p:sp>
      <p:sp>
        <p:nvSpPr>
          <p:cNvPr id="21" name="Text 18"/>
          <p:cNvSpPr txBox="1"/>
          <p:nvPr/>
        </p:nvSpPr>
        <p:spPr>
          <a:xfrm>
            <a:off x="8046720" y="53949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2" name="Text 19"/>
          <p:cNvSpPr txBox="1"/>
          <p:nvPr/>
        </p:nvSpPr>
        <p:spPr>
          <a:xfrm>
            <a:off x="8641080" y="5422392"/>
            <a:ext cx="3017520" cy="457200"/>
          </a:xfrm>
          <a:prstGeom prst="rect">
            <a:avLst/>
          </a:prstGeom>
          <a:noFill/>
          <a:ln/>
        </p:spPr>
        <p:txBody>
          <a:bodyPr wrap="square" lIns="0" tIns="0" rIns="0" bIns="0" rtlCol="0" anchor="ctr"/>
          <a:lstStyle/>
          <a:p>
            <a:pPr indent="0" marL="0">
              <a:buNone/>
            </a:pPr>
            <a:r>
              <a:rPr lang="en-US" sz="1500" dirty="0">
                <a:solidFill>
                  <a:schemeClr val="bg1"/>
                </a:solidFill>
              </a:rPr>
              <a:t>LOD1 ⇄ LOD3 và xuất CSV</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0"/>
          <p:cNvSpPr/>
          <p:nvPr>
            <p:ph idx="100" type="title" hasCustomPrompt="1"/>
          </p:nvPr>
        </p:nvSpPr>
        <p:spPr>
          <a:xfrm>
            <a:off x="548640" y="320040"/>
            <a:ext cx="11094415" cy="777240"/>
          </a:xfrm>
          <a:prstGeom prst="rect">
            <a:avLst/>
          </a:prstGeom>
          <a:noFill/>
          <a:ln/>
        </p:spPr>
        <p:txBody>
          <a:bodyPr wrap="square"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Hạn chế và hướng phát triển</a:t>
            </a:r>
            <a:endParaRPr lang="en-US" sz="3200" dirty="0"/>
          </a:p>
        </p:txBody>
      </p:sp>
      <p:sp>
        <p:nvSpPr>
          <p:cNvPr id="4" name="Hạn chế"/>
          <p:cNvSpPr/>
          <p:nvPr/>
        </p:nvSpPr>
        <p:spPr>
          <a:xfrm>
            <a:off x="548640" y="1371600"/>
            <a:ext cx="5440680" cy="4709160"/>
          </a:xfrm>
          <a:prstGeom prst="roundRect">
            <a:avLst>
              <a:gd name="adj" fmla="val 2330"/>
            </a:avLst>
          </a:prstGeom>
          <a:solidFill>
            <a:schemeClr val="bg2"/>
          </a:solidFill>
          <a:ln w="12700">
            <a:solidFill>
              <a:schemeClr val="bg2"/>
            </a:solidFill>
            <a:prstDash val="solid"/>
          </a:ln>
        </p:spPr>
      </p:sp>
      <p:sp>
        <p:nvSpPr>
          <p:cNvPr id="5" name="Biểu tượng Hạn chế (nền)"/>
          <p:cNvSpPr/>
          <p:nvPr/>
        </p:nvSpPr>
        <p:spPr>
          <a:xfrm>
            <a:off x="822960" y="1600200"/>
            <a:ext cx="640080" cy="640080"/>
          </a:xfrm>
          <a:prstGeom prst="ellipse">
            <a:avLst/>
          </a:prstGeom>
          <a:solidFill>
            <a:schemeClr val="accent4"/>
          </a:solidFill>
          <a:ln w="12700">
            <a:solidFill>
              <a:schemeClr val="accent4"/>
            </a:solidFill>
            <a:prstDash val="solid"/>
          </a:ln>
        </p:spPr>
      </p:sp>
      <p:pic>
        <p:nvPicPr>
          <p:cNvPr id="6" name="Biểu tượng Hạn chế" descr="Biểu tượng Hạn chế">    </p:cNvPr>
          <p:cNvPicPr>
            <a:picLocks noChangeAspect="1"/>
          </p:cNvPicPr>
          <p:nvPr/>
        </p:nvPicPr>
        <p:blipFill>
          <a:blip r:embed="rId1"/>
          <a:stretch>
            <a:fillRect/>
          </a:stretch>
        </p:blipFill>
        <p:spPr>
          <a:xfrm>
            <a:off x="989381" y="1766621"/>
            <a:ext cx="307238" cy="307238"/>
          </a:xfrm>
          <a:prstGeom prst="rect">
            <a:avLst/>
          </a:prstGeom>
        </p:spPr>
      </p:pic>
      <p:sp>
        <p:nvSpPr>
          <p:cNvPr id="7" name="Text 3"/>
          <p:cNvSpPr txBox="1"/>
          <p:nvPr/>
        </p:nvSpPr>
        <p:spPr>
          <a:xfrm>
            <a:off x="1645920" y="1691640"/>
            <a:ext cx="4114800" cy="457200"/>
          </a:xfrm>
          <a:prstGeom prst="rect">
            <a:avLst/>
          </a:prstGeom>
          <a:noFill/>
          <a:ln/>
        </p:spPr>
        <p:txBody>
          <a:bodyPr wrap="square" lIns="0" tIns="0" rIns="0" bIns="0" rtlCol="0" anchor="t"/>
          <a:lstStyle/>
          <a:p>
            <a:pPr indent="0" marL="0">
              <a:buNone/>
            </a:pPr>
            <a:r>
              <a:rPr lang="en-US" sz="2100" b="1" dirty="0">
                <a:solidFill>
                  <a:schemeClr val="tx2"/>
                </a:solidFill>
              </a:rPr>
              <a:t>Hạn chế</a:t>
            </a:r>
            <a:endParaRPr lang="en-US" sz="2100" dirty="0"/>
          </a:p>
        </p:txBody>
      </p:sp>
      <p:sp>
        <p:nvSpPr>
          <p:cNvPr id="8" name="Text 4"/>
          <p:cNvSpPr txBox="1"/>
          <p:nvPr/>
        </p:nvSpPr>
        <p:spPr>
          <a:xfrm>
            <a:off x="822960" y="2468880"/>
            <a:ext cx="4892040" cy="34747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Độ cao GPS trong nhà rất kém → dùng tầng khai báo, hệ thống đối chiếu chứ không tự quyết</a:t>
            </a:r>
            <a:endParaRPr lang="en-US" sz="1600" dirty="0"/>
          </a:p>
          <a:p>
            <a:pPr marL="342900" indent="-342900">
              <a:spcAft>
                <a:spcPts val="1000"/>
              </a:spcAft>
              <a:buSzPct val="100000"/>
              <a:buChar char="•"/>
            </a:pPr>
            <a:r>
              <a:rPr lang="en-US" sz="1600" dirty="0">
                <a:solidFill>
                  <a:schemeClr val="tx1"/>
                </a:solidFill>
              </a:rPr>
              <a:t>Chưa dùng cảm biến bổ trợ (BLE beacon, khí áp kế)</a:t>
            </a:r>
            <a:endParaRPr lang="en-US" sz="1600" dirty="0"/>
          </a:p>
          <a:p>
            <a:pPr marL="342900" indent="-342900">
              <a:spcAft>
                <a:spcPts val="1000"/>
              </a:spcAft>
              <a:buSzPct val="100000"/>
              <a:buChar char="•"/>
            </a:pPr>
            <a:r>
              <a:rPr lang="en-US" sz="1600" dirty="0">
                <a:solidFill>
                  <a:schemeClr val="tx1"/>
                </a:solidFill>
              </a:rPr>
              <a:t>Chỉ ~3,7 % công trình TP.HCM trên OSM có thuộc tính chiều cao</a:t>
            </a:r>
            <a:endParaRPr lang="en-US" sz="1600" dirty="0"/>
          </a:p>
          <a:p>
            <a:pPr marL="342900" indent="-342900">
              <a:spcAft>
                <a:spcPts val="1000"/>
              </a:spcAft>
              <a:buSzPct val="100000"/>
              <a:buChar char="•"/>
            </a:pPr>
            <a:r>
              <a:rPr lang="en-US" sz="1600" dirty="0">
                <a:solidFill>
                  <a:schemeClr val="tx1"/>
                </a:solidFill>
              </a:rPr>
              <a:t>Không chặn hoàn toàn được giả lập GPS từ phía web</a:t>
            </a:r>
            <a:endParaRPr lang="en-US" sz="1600" dirty="0"/>
          </a:p>
        </p:txBody>
      </p:sp>
      <p:sp>
        <p:nvSpPr>
          <p:cNvPr id="9" name="Hướng phát triển"/>
          <p:cNvSpPr/>
          <p:nvPr/>
        </p:nvSpPr>
        <p:spPr>
          <a:xfrm>
            <a:off x="6172200" y="1371600"/>
            <a:ext cx="5440680" cy="4709160"/>
          </a:xfrm>
          <a:prstGeom prst="roundRect">
            <a:avLst>
              <a:gd name="adj" fmla="val 2330"/>
            </a:avLst>
          </a:prstGeom>
          <a:solidFill>
            <a:schemeClr val="bg2"/>
          </a:solidFill>
          <a:ln w="12700">
            <a:solidFill>
              <a:schemeClr val="bg2"/>
            </a:solidFill>
            <a:prstDash val="solid"/>
          </a:ln>
        </p:spPr>
      </p:sp>
      <p:sp>
        <p:nvSpPr>
          <p:cNvPr id="10" name="Biểu tượng Hướng phát triển (nền)"/>
          <p:cNvSpPr/>
          <p:nvPr/>
        </p:nvSpPr>
        <p:spPr>
          <a:xfrm>
            <a:off x="6446520" y="1600200"/>
            <a:ext cx="640080" cy="640080"/>
          </a:xfrm>
          <a:prstGeom prst="ellipse">
            <a:avLst/>
          </a:prstGeom>
          <a:solidFill>
            <a:schemeClr val="accent2"/>
          </a:solidFill>
          <a:ln w="12700">
            <a:solidFill>
              <a:schemeClr val="accent2"/>
            </a:solidFill>
            <a:prstDash val="solid"/>
          </a:ln>
        </p:spPr>
      </p:sp>
      <p:pic>
        <p:nvPicPr>
          <p:cNvPr id="11" name="Biểu tượng Hướng phát triển" descr="Biểu tượng Hướng phát triển">    </p:cNvPr>
          <p:cNvPicPr>
            <a:picLocks noChangeAspect="1"/>
          </p:cNvPicPr>
          <p:nvPr/>
        </p:nvPicPr>
        <p:blipFill>
          <a:blip r:embed="rId2"/>
          <a:stretch>
            <a:fillRect/>
          </a:stretch>
        </p:blipFill>
        <p:spPr>
          <a:xfrm>
            <a:off x="6612941" y="1766621"/>
            <a:ext cx="307238" cy="307238"/>
          </a:xfrm>
          <a:prstGeom prst="rect">
            <a:avLst/>
          </a:prstGeom>
        </p:spPr>
      </p:pic>
      <p:sp>
        <p:nvSpPr>
          <p:cNvPr id="12" name="Text 7"/>
          <p:cNvSpPr txBox="1"/>
          <p:nvPr/>
        </p:nvSpPr>
        <p:spPr>
          <a:xfrm>
            <a:off x="7269480" y="1691640"/>
            <a:ext cx="4114800" cy="457200"/>
          </a:xfrm>
          <a:prstGeom prst="rect">
            <a:avLst/>
          </a:prstGeom>
          <a:noFill/>
          <a:ln/>
        </p:spPr>
        <p:txBody>
          <a:bodyPr wrap="square" lIns="0" tIns="0" rIns="0" bIns="0" rtlCol="0" anchor="t"/>
          <a:lstStyle/>
          <a:p>
            <a:pPr indent="0" marL="0">
              <a:buNone/>
            </a:pPr>
            <a:r>
              <a:rPr lang="en-US" sz="2100" b="1" dirty="0">
                <a:solidFill>
                  <a:schemeClr val="tx2"/>
                </a:solidFill>
              </a:rPr>
              <a:t>Hướng phát triển</a:t>
            </a:r>
            <a:endParaRPr lang="en-US" sz="2100" dirty="0"/>
          </a:p>
        </p:txBody>
      </p:sp>
      <p:sp>
        <p:nvSpPr>
          <p:cNvPr id="13" name="Text 8"/>
          <p:cNvSpPr txBox="1"/>
          <p:nvPr/>
        </p:nvSpPr>
        <p:spPr>
          <a:xfrm>
            <a:off x="6446520" y="2468880"/>
            <a:ext cx="4892040" cy="34747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Hợp nhất BLE beacon và khí áp kế để xác định tầng độc lập với GPS</a:t>
            </a:r>
            <a:endParaRPr lang="en-US" sz="1600" dirty="0"/>
          </a:p>
          <a:p>
            <a:pPr marL="342900" indent="-342900">
              <a:spcAft>
                <a:spcPts val="1000"/>
              </a:spcAft>
              <a:buSzPct val="100000"/>
              <a:buChar char="•"/>
            </a:pPr>
            <a:r>
              <a:rPr lang="en-US" sz="1600" dirty="0">
                <a:solidFill>
                  <a:schemeClr val="tx1"/>
                </a:solidFill>
              </a:rPr>
              <a:t>Nâng lên LOD4 (nội thất) để chấm công theo phòng</a:t>
            </a:r>
            <a:endParaRPr lang="en-US" sz="1600" dirty="0"/>
          </a:p>
          <a:p>
            <a:pPr marL="342900" indent="-342900">
              <a:spcAft>
                <a:spcPts val="1000"/>
              </a:spcAft>
              <a:buSzPct val="100000"/>
              <a:buChar char="•"/>
            </a:pPr>
            <a:r>
              <a:rPr lang="en-US" sz="1600" dirty="0">
                <a:solidFill>
                  <a:schemeClr val="tx1"/>
                </a:solidFill>
              </a:rPr>
              <a:t>Khối MAP có chiều thời gian cho công trường đang thi công</a:t>
            </a:r>
            <a:endParaRPr lang="en-US" sz="1600" dirty="0"/>
          </a:p>
          <a:p>
            <a:pPr marL="342900" indent="-342900">
              <a:spcAft>
                <a:spcPts val="1000"/>
              </a:spcAft>
              <a:buSzPct val="100000"/>
              <a:buChar char="•"/>
            </a:pPr>
            <a:r>
              <a:rPr lang="en-US" sz="1600" dirty="0">
                <a:solidFill>
                  <a:schemeClr val="tx1"/>
                </a:solidFill>
              </a:rPr>
              <a:t>Tích hợp hệ thống tính lương và quản lý nhân sự</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0"/>
          <p:cNvSpPr/>
          <p:nvPr>
            <p:ph idx="100" type="title" hasCustomPrompt="1"/>
          </p:nvPr>
        </p:nvSpPr>
        <p:spPr>
          <a:xfrm>
            <a:off x="548640" y="1325880"/>
            <a:ext cx="6766560" cy="1828800"/>
          </a:xfrm>
          <a:prstGeom prst="rect">
            <a:avLst/>
          </a:prstGeom>
          <a:noFill/>
          <a:ln/>
        </p:spPr>
        <p:txBody>
          <a:bodyPr wrap="square"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Cảm ơn thầy và các bạn</a:t>
            </a:r>
            <a:endParaRPr lang="en-US" sz="4000" dirty="0"/>
          </a:p>
        </p:txBody>
      </p:sp>
      <p:sp>
        <p:nvSpPr>
          <p:cNvPr id="4" name="Text 0"/>
          <p:cNvSpPr/>
          <p:nvPr>
            <p:ph idx="101" type="body" hasCustomPrompt="1"/>
          </p:nvPr>
        </p:nvSpPr>
        <p:spPr>
          <a:xfrm>
            <a:off x="548640" y="3246120"/>
            <a:ext cx="6766560" cy="822960"/>
          </a:xfrm>
          <a:prstGeom prst="rect">
            <a:avLst/>
          </a:prstGeom>
          <a:noFill/>
          <a:ln/>
        </p:spPr>
        <p:txBody>
          <a:bodyPr wrap="square" rtlCol="0" anchor="t"/>
          <a:lstStyle/>
          <a:p>
            <a:pPr algn="l" indent="0" marL="0">
              <a:buNone/>
            </a:pPr>
            <a:r>
              <a:rPr lang="en-US" sz="1800" dirty="0">
                <a:solidFill>
                  <a:schemeClr val="bg2"/>
                </a:solidFill>
              </a:rPr>
              <a:t>Nhóm 1 xin nhận câu hỏi</a:t>
            </a:r>
            <a:endParaRPr lang="en-US" sz="1800" dirty="0"/>
          </a:p>
        </p:txBody>
      </p:sp>
      <p:sp>
        <p:nvSpPr>
          <p:cNvPr id="5" name="Text 2"/>
          <p:cNvSpPr txBox="1"/>
          <p:nvPr/>
        </p:nvSpPr>
        <p:spPr>
          <a:xfrm>
            <a:off x="548640" y="4297680"/>
            <a:ext cx="6583680" cy="1188720"/>
          </a:xfrm>
          <a:prstGeom prst="rect">
            <a:avLst/>
          </a:prstGeom>
          <a:noFill/>
          <a:ln/>
        </p:spPr>
        <p:txBody>
          <a:bodyPr wrap="square" lIns="0" tIns="0" rIns="0" bIns="0" rtlCol="0" anchor="t"/>
          <a:lstStyle/>
          <a:p>
            <a:pPr indent="0" marL="0">
              <a:buNone/>
            </a:pPr>
            <a:r>
              <a:rPr lang="en-US" sz="1600" i="1" dirty="0">
                <a:solidFill>
                  <a:srgbClr val="C9D3E0"/>
                </a:solidFill>
              </a:rPr>
              <a:t>“Điểm thuộc đa giác” → “điểm thuộc khối”: một trạng thái mới — đúng toà nhà, sai tầng — mà mô hình hai chiều không có dữ liệu để phát hiện.</a:t>
            </a:r>
            <a:endParaRPr lang="en-US" sz="1600" dirty="0"/>
          </a:p>
        </p:txBody>
      </p:sp>
      <p:pic>
        <p:nvPicPr>
          <p:cNvPr id="6" name="Toà nhà với tấm sàn tầng 22 nằm ngoài dải của Alpha Tech" descr="Toà nhà với tấm sàn tầng 22 nằm ngoài dải của Alpha Tech">    </p:cNvPr>
          <p:cNvPicPr>
            <a:picLocks noChangeAspect="1"/>
          </p:cNvPicPr>
          <p:nvPr/>
        </p:nvPicPr>
        <p:blipFill>
          <a:blip r:embed="rId1"/>
          <a:stretch>
            <a:fillRect/>
          </a:stretch>
        </p:blipFill>
        <p:spPr>
          <a:xfrm>
            <a:off x="8503920" y="457200"/>
            <a:ext cx="2377440" cy="5943600"/>
          </a:xfrm>
          <a:prstGeom prst="rect">
            <a:avLst/>
          </a:prstGeom>
        </p:spPr>
      </p:pic>
    </p:spTree>
  </p:cSld>
  <p:clrMapOvr>
    <a:masterClrMapping/>
  </p:clrMapOvr>
</p:sld>
</file>

<file path=ppt/theme/theme1.xml><?xml version="1.0" encoding="utf-8"?>
<a:theme xmlns:a="http://schemas.openxmlformats.org/drawingml/2006/main" name="IE402 MAP">
  <a:themeElements>
    <a:clrScheme name="IE402 MAP">
      <a:dk1>
        <a:srgbClr val="1B2230"/>
      </a:dk1>
      <a:lt1>
        <a:srgbClr val="FFFFFF"/>
      </a:lt1>
      <a:dk2>
        <a:srgbClr val="13294B"/>
      </a:dk2>
      <a:lt2>
        <a:srgbClr val="EEF2F7"/>
      </a:lt2>
      <a:accent1>
        <a:srgbClr val="E8622A"/>
      </a:accent1>
      <a:accent2>
        <a:srgbClr val="1A7F37"/>
      </a:accent2>
      <a:accent3>
        <a:srgbClr val="C98A0B"/>
      </a:accent3>
      <a:accent4>
        <a:srgbClr val="C0392B"/>
      </a:accent4>
      <a:accent5>
        <a:srgbClr val="1F6FEB"/>
      </a:accent5>
      <a:accent6>
        <a:srgbClr val="8250DF"/>
      </a:accent6>
      <a:hlink>
        <a:srgbClr val="1F6FEB"/>
      </a:hlink>
      <a:folHlink>
        <a:srgbClr val="8250DF"/>
      </a:folHlink>
    </a:clrScheme>
    <a:fontScheme name="IE402 MAP">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Hệ thống chấm công định vị 3D theo mô hình khối không gian phân tầng</dc:title>
  <dc:subject>IE402 — Hệ thống thông tin địa lý 3 chiều</dc:subject>
  <dc:creator>Nhóm 1 — IE402</dc:creator>
  <cp:lastModifiedBy>Nhóm 1 — IE402</cp:lastModifiedBy>
  <cp:revision>1</cp:revision>
  <dcterms:created xsi:type="dcterms:W3CDTF">2026-10-20T14:35:36Z</dcterms:created>
  <dcterms:modified xsi:type="dcterms:W3CDTF">2026-10-20T14:35:36Z</dcterms:modified>
</cp:coreProperties>
</file>